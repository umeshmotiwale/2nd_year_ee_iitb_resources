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432D3-450A-A9F2-9AA2-60BCF3926347}" v="4" dt="2026-01-06T05:38:16.418"/>
    <p1510:client id="{93E2B041-0BFA-6834-1F7A-E7B78AA61406}" v="221" dt="2026-01-06T05:28:01.536"/>
    <p1510:client id="{E2599FF8-5818-4B60-8E91-3674FD73CDA0}" v="6" dt="2026-01-06T04:38:56.9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022" y="-379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Ashok Bhaganagare" userId="S::mahesh_24_8@iitb.ac.in::44af339f-6f74-4c30-a63f-df4f50da375e" providerId="AD" clId="Web-{2E0432D3-450A-A9F2-9AA2-60BCF3926347}"/>
    <pc:docChg chg="modSld">
      <pc:chgData name="Mahesh Ashok Bhaganagare" userId="S::mahesh_24_8@iitb.ac.in::44af339f-6f74-4c30-a63f-df4f50da375e" providerId="AD" clId="Web-{2E0432D3-450A-A9F2-9AA2-60BCF3926347}" dt="2026-01-06T05:38:16.418" v="1" actId="20577"/>
      <pc:docMkLst>
        <pc:docMk/>
      </pc:docMkLst>
      <pc:sldChg chg="modSp">
        <pc:chgData name="Mahesh Ashok Bhaganagare" userId="S::mahesh_24_8@iitb.ac.in::44af339f-6f74-4c30-a63f-df4f50da375e" providerId="AD" clId="Web-{2E0432D3-450A-A9F2-9AA2-60BCF3926347}" dt="2026-01-06T05:38:16.418" v="1" actId="20577"/>
        <pc:sldMkLst>
          <pc:docMk/>
          <pc:sldMk cId="0" sldId="258"/>
        </pc:sldMkLst>
        <pc:spChg chg="mod">
          <ac:chgData name="Mahesh Ashok Bhaganagare" userId="S::mahesh_24_8@iitb.ac.in::44af339f-6f74-4c30-a63f-df4f50da375e" providerId="AD" clId="Web-{2E0432D3-450A-A9F2-9AA2-60BCF3926347}" dt="2026-01-06T05:38:16.418" v="1" actId="20577"/>
          <ac:spMkLst>
            <pc:docMk/>
            <pc:sldMk cId="0" sldId="258"/>
            <ac:spMk id="3" creationId="{00000000-0000-0000-0000-000000000000}"/>
          </ac:spMkLst>
        </pc:spChg>
      </pc:sldChg>
    </pc:docChg>
  </pc:docChgLst>
  <pc:docChgLst>
    <pc:chgData name="Amit Pandit Shetye" userId="S::i13069@iitb.ac.in::67da7a53-f190-4b78-870c-d5d6f870d392" providerId="AD" clId="Web-{E2599FF8-5818-4B60-8E91-3674FD73CDA0}"/>
    <pc:docChg chg="modSld">
      <pc:chgData name="Amit Pandit Shetye" userId="S::i13069@iitb.ac.in::67da7a53-f190-4b78-870c-d5d6f870d392" providerId="AD" clId="Web-{E2599FF8-5818-4B60-8E91-3674FD73CDA0}" dt="2026-01-06T04:38:56.979" v="2" actId="20577"/>
      <pc:docMkLst>
        <pc:docMk/>
      </pc:docMkLst>
      <pc:sldChg chg="modSp">
        <pc:chgData name="Amit Pandit Shetye" userId="S::i13069@iitb.ac.in::67da7a53-f190-4b78-870c-d5d6f870d392" providerId="AD" clId="Web-{E2599FF8-5818-4B60-8E91-3674FD73CDA0}" dt="2026-01-06T04:38:56.979" v="2" actId="20577"/>
        <pc:sldMkLst>
          <pc:docMk/>
          <pc:sldMk cId="0" sldId="259"/>
        </pc:sldMkLst>
        <pc:spChg chg="mod">
          <ac:chgData name="Amit Pandit Shetye" userId="S::i13069@iitb.ac.in::67da7a53-f190-4b78-870c-d5d6f870d392" providerId="AD" clId="Web-{E2599FF8-5818-4B60-8E91-3674FD73CDA0}" dt="2026-01-06T04:38:56.979" v="2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  <pc:docChgLst>
    <pc:chgData name="Mahesh Ashok Bhaganagare" userId="S::mahesh_24_8@iitb.ac.in::44af339f-6f74-4c30-a63f-df4f50da375e" providerId="AD" clId="Web-{93E2B041-0BFA-6834-1F7A-E7B78AA61406}"/>
    <pc:docChg chg="modSld">
      <pc:chgData name="Mahesh Ashok Bhaganagare" userId="S::mahesh_24_8@iitb.ac.in::44af339f-6f74-4c30-a63f-df4f50da375e" providerId="AD" clId="Web-{93E2B041-0BFA-6834-1F7A-E7B78AA61406}" dt="2026-01-06T05:28:01.536" v="77" actId="14100"/>
      <pc:docMkLst>
        <pc:docMk/>
      </pc:docMkLst>
      <pc:sldChg chg="modSp">
        <pc:chgData name="Mahesh Ashok Bhaganagare" userId="S::mahesh_24_8@iitb.ac.in::44af339f-6f74-4c30-a63f-df4f50da375e" providerId="AD" clId="Web-{93E2B041-0BFA-6834-1F7A-E7B78AA61406}" dt="2026-01-06T05:21:31.366" v="71" actId="20577"/>
        <pc:sldMkLst>
          <pc:docMk/>
          <pc:sldMk cId="0" sldId="256"/>
        </pc:sldMkLst>
        <pc:spChg chg="mod">
          <ac:chgData name="Mahesh Ashok Bhaganagare" userId="S::mahesh_24_8@iitb.ac.in::44af339f-6f74-4c30-a63f-df4f50da375e" providerId="AD" clId="Web-{93E2B041-0BFA-6834-1F7A-E7B78AA61406}" dt="2026-01-06T05:21:31.366" v="7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Mahesh Ashok Bhaganagare" userId="S::mahesh_24_8@iitb.ac.in::44af339f-6f74-4c30-a63f-df4f50da375e" providerId="AD" clId="Web-{93E2B041-0BFA-6834-1F7A-E7B78AA61406}" dt="2026-01-06T05:25:06.428" v="76" actId="20577"/>
        <pc:sldMkLst>
          <pc:docMk/>
          <pc:sldMk cId="0" sldId="257"/>
        </pc:sldMkLst>
        <pc:spChg chg="mod">
          <ac:chgData name="Mahesh Ashok Bhaganagare" userId="S::mahesh_24_8@iitb.ac.in::44af339f-6f74-4c30-a63f-df4f50da375e" providerId="AD" clId="Web-{93E2B041-0BFA-6834-1F7A-E7B78AA61406}" dt="2026-01-06T05:25:06.428" v="76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Mahesh Ashok Bhaganagare" userId="S::mahesh_24_8@iitb.ac.in::44af339f-6f74-4c30-a63f-df4f50da375e" providerId="AD" clId="Web-{93E2B041-0BFA-6834-1F7A-E7B78AA61406}" dt="2026-01-06T05:18:20.773" v="16" actId="20577"/>
        <pc:sldMkLst>
          <pc:docMk/>
          <pc:sldMk cId="0" sldId="259"/>
        </pc:sldMkLst>
        <pc:spChg chg="mod">
          <ac:chgData name="Mahesh Ashok Bhaganagare" userId="S::mahesh_24_8@iitb.ac.in::44af339f-6f74-4c30-a63f-df4f50da375e" providerId="AD" clId="Web-{93E2B041-0BFA-6834-1F7A-E7B78AA61406}" dt="2026-01-06T05:18:20.773" v="16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Mahesh Ashok Bhaganagare" userId="S::mahesh_24_8@iitb.ac.in::44af339f-6f74-4c30-a63f-df4f50da375e" providerId="AD" clId="Web-{93E2B041-0BFA-6834-1F7A-E7B78AA61406}" dt="2026-01-06T05:28:01.536" v="77" actId="14100"/>
        <pc:sldMkLst>
          <pc:docMk/>
          <pc:sldMk cId="0" sldId="261"/>
        </pc:sldMkLst>
        <pc:spChg chg="mod">
          <ac:chgData name="Mahesh Ashok Bhaganagare" userId="S::mahesh_24_8@iitb.ac.in::44af339f-6f74-4c30-a63f-df4f50da375e" providerId="AD" clId="Web-{93E2B041-0BFA-6834-1F7A-E7B78AA61406}" dt="2026-01-06T05:28:01.536" v="77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Mahesh Ashok Bhaganagare" userId="S::mahesh_24_8@iitb.ac.in::44af339f-6f74-4c30-a63f-df4f50da375e" providerId="AD" clId="Web-{93E2B041-0BFA-6834-1F7A-E7B78AA61406}" dt="2026-01-06T05:17:16.399" v="10" actId="20577"/>
        <pc:sldMkLst>
          <pc:docMk/>
          <pc:sldMk cId="0" sldId="262"/>
        </pc:sldMkLst>
        <pc:spChg chg="mod">
          <ac:chgData name="Mahesh Ashok Bhaganagare" userId="S::mahesh_24_8@iitb.ac.in::44af339f-6f74-4c30-a63f-df4f50da375e" providerId="AD" clId="Web-{93E2B041-0BFA-6834-1F7A-E7B78AA61406}" dt="2026-01-06T05:17:16.399" v="1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Mahesh Ashok Bhaganagare" userId="S::mahesh_24_8@iitb.ac.in::44af339f-6f74-4c30-a63f-df4f50da375e" providerId="AD" clId="Web-{93E2B041-0BFA-6834-1F7A-E7B78AA61406}" dt="2026-01-06T05:20:11.460" v="30"/>
        <pc:sldMkLst>
          <pc:docMk/>
          <pc:sldMk cId="0" sldId="269"/>
        </pc:sldMkLst>
        <pc:graphicFrameChg chg="mod modGraphic">
          <ac:chgData name="Mahesh Ashok Bhaganagare" userId="S::mahesh_24_8@iitb.ac.in::44af339f-6f74-4c30-a63f-df4f50da375e" providerId="AD" clId="Web-{93E2B041-0BFA-6834-1F7A-E7B78AA61406}" dt="2026-01-06T05:20:11.460" v="30"/>
          <ac:graphicFrameMkLst>
            <pc:docMk/>
            <pc:sldMk cId="0" sldId="269"/>
            <ac:graphicFrameMk id="6" creationId="{86C35076-E239-4B92-89B9-33D5F8C3E2E1}"/>
          </ac:graphicFrameMkLst>
        </pc:graphicFrameChg>
      </pc:sldChg>
      <pc:sldChg chg="modSp">
        <pc:chgData name="Mahesh Ashok Bhaganagare" userId="S::mahesh_24_8@iitb.ac.in::44af339f-6f74-4c30-a63f-df4f50da375e" providerId="AD" clId="Web-{93E2B041-0BFA-6834-1F7A-E7B78AA61406}" dt="2026-01-06T05:19:51.179" v="26"/>
        <pc:sldMkLst>
          <pc:docMk/>
          <pc:sldMk cId="0" sldId="270"/>
        </pc:sldMkLst>
        <pc:graphicFrameChg chg="mod modGraphic">
          <ac:chgData name="Mahesh Ashok Bhaganagare" userId="S::mahesh_24_8@iitb.ac.in::44af339f-6f74-4c30-a63f-df4f50da375e" providerId="AD" clId="Web-{93E2B041-0BFA-6834-1F7A-E7B78AA61406}" dt="2026-01-06T05:19:51.179" v="26"/>
          <ac:graphicFrameMkLst>
            <pc:docMk/>
            <pc:sldMk cId="0" sldId="270"/>
            <ac:graphicFrameMk id="6" creationId="{370C9AFC-AE6D-4265-B929-CC8D57B1F110}"/>
          </ac:graphicFrameMkLst>
        </pc:graphicFrameChg>
      </pc:sldChg>
      <pc:sldChg chg="modSp">
        <pc:chgData name="Mahesh Ashok Bhaganagare" userId="S::mahesh_24_8@iitb.ac.in::44af339f-6f74-4c30-a63f-df4f50da375e" providerId="AD" clId="Web-{93E2B041-0BFA-6834-1F7A-E7B78AA61406}" dt="2026-01-06T05:24:58.694" v="75" actId="1076"/>
        <pc:sldMkLst>
          <pc:docMk/>
          <pc:sldMk cId="0" sldId="271"/>
        </pc:sldMkLst>
        <pc:spChg chg="mod">
          <ac:chgData name="Mahesh Ashok Bhaganagare" userId="S::mahesh_24_8@iitb.ac.in::44af339f-6f74-4c30-a63f-df4f50da375e" providerId="AD" clId="Web-{93E2B041-0BFA-6834-1F7A-E7B78AA61406}" dt="2026-01-06T05:24:18.991" v="74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Mahesh Ashok Bhaganagare" userId="S::mahesh_24_8@iitb.ac.in::44af339f-6f74-4c30-a63f-df4f50da375e" providerId="AD" clId="Web-{93E2B041-0BFA-6834-1F7A-E7B78AA61406}" dt="2026-01-06T05:24:58.694" v="75" actId="1076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94693" y="2447137"/>
            <a:ext cx="3069012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6975" y="1697330"/>
            <a:ext cx="631698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2325" y="2565949"/>
            <a:ext cx="8093749" cy="3566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55194" y="6149189"/>
            <a:ext cx="231775" cy="209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%3cpatkar@ee.iitb.ac.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mab@ee.iitb.ac.in" TargetMode="External"/><Relationship Id="rId2" Type="http://schemas.openxmlformats.org/officeDocument/2006/relationships/hyperlink" Target="mailto:patkar@ee.iitb.ac.i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23m1183@iitb.ac.in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chip.com/developmenttools/ProductD" TargetMode="External"/><Relationship Id="rId2" Type="http://schemas.openxmlformats.org/officeDocument/2006/relationships/hyperlink" Target="https://www.keil.com/demo/eval/c51.htm%23/DOWNLOA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L-S_lQQuTVUIBMh-uCzxmQ8W6vz3wNqz/view?usp=sharing" TargetMode="External"/><Relationship Id="rId3" Type="http://schemas.openxmlformats.org/officeDocument/2006/relationships/hyperlink" Target="https://drive.google.com/file/d/19CV3GJQjWKMcmXwadSUiGOqLxOXSxTVy/view?usp=sharing" TargetMode="External"/><Relationship Id="rId7" Type="http://schemas.openxmlformats.org/officeDocument/2006/relationships/hyperlink" Target="https://drive.google.com/file/d/1OWfeWGBh3xoisk0_q1j4IonKdUcIKfFT/view?usp=sharing" TargetMode="External"/><Relationship Id="rId2" Type="http://schemas.openxmlformats.org/officeDocument/2006/relationships/hyperlink" Target="https://docs.google.com/document/d/1Qgwcbil7yd4w9aVUu0v9Lk_O8658NMkystsMjUFXMsk/edit?usp=sharing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rive.google.com/file/d/1f7AVS4AqNzJ-rOX6SbJiV5c2Yne4OcCD/view?usp=sharing" TargetMode="External"/><Relationship Id="rId5" Type="http://schemas.openxmlformats.org/officeDocument/2006/relationships/hyperlink" Target="https://drive.google.com/file/d/1ghcb3mMjc3hZ02CBAQqUfF-BOyhVwD2Y/view?usp=sharing" TargetMode="External"/><Relationship Id="rId10" Type="http://schemas.openxmlformats.org/officeDocument/2006/relationships/hyperlink" Target="https://drive.google.com/file/d/1LqoSqAdzlerFc-X21G8m3_meYPoQLsSM/view?usp=sharing" TargetMode="External"/><Relationship Id="rId4" Type="http://schemas.openxmlformats.org/officeDocument/2006/relationships/hyperlink" Target="https://www.youtube.com/watch?v=IQZ8nyKL4xI" TargetMode="External"/><Relationship Id="rId9" Type="http://schemas.openxmlformats.org/officeDocument/2006/relationships/hyperlink" Target="https://drive.google.com/file/d/1UGZT7Z6LyXLk3Z_0J-5t7JQ-xh6IxUe8/view?usp=sharing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ee337.github.io/dks/serial_io.html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38771" y="2200148"/>
            <a:ext cx="7115809" cy="1209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/>
              <a:t>EE337</a:t>
            </a:r>
            <a:r>
              <a:rPr sz="4000" spc="-145"/>
              <a:t> </a:t>
            </a:r>
            <a:r>
              <a:rPr sz="4000"/>
              <a:t>-</a:t>
            </a:r>
            <a:r>
              <a:rPr sz="4000" spc="-165"/>
              <a:t> </a:t>
            </a:r>
            <a:r>
              <a:rPr sz="4000"/>
              <a:t>Microprocessors</a:t>
            </a:r>
            <a:r>
              <a:rPr sz="4000" spc="-105"/>
              <a:t> </a:t>
            </a:r>
            <a:r>
              <a:rPr sz="4000" spc="-25"/>
              <a:t>Lab</a:t>
            </a:r>
            <a:endParaRPr sz="4000"/>
          </a:p>
          <a:p>
            <a:pPr marL="5080" algn="ctr">
              <a:lnSpc>
                <a:spcPct val="100000"/>
              </a:lnSpc>
              <a:spcBef>
                <a:spcPts val="204"/>
              </a:spcBef>
            </a:pPr>
            <a:r>
              <a:rPr b="0">
                <a:latin typeface="Arial"/>
                <a:cs typeface="Arial"/>
              </a:rPr>
              <a:t>Course</a:t>
            </a:r>
            <a:r>
              <a:rPr b="0" spc="-100">
                <a:latin typeface="Arial"/>
                <a:cs typeface="Arial"/>
              </a:rPr>
              <a:t> </a:t>
            </a:r>
            <a:r>
              <a:rPr b="0" spc="-10">
                <a:latin typeface="Arial"/>
                <a:cs typeface="Arial"/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5302" y="3937486"/>
            <a:ext cx="7366634" cy="121058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Instructor: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Prof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Sachin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Patkar</a:t>
            </a:r>
            <a:r>
              <a:rPr lang="en-US" sz="2400" spc="-100" dirty="0">
                <a:latin typeface="Arial"/>
                <a:cs typeface="Arial"/>
              </a:rPr>
              <a:t> &lt;</a:t>
            </a:r>
            <a:r>
              <a:rPr lang="en-US" sz="2400" spc="-2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patkar@ee.iitb.ac.in</a:t>
            </a:r>
            <a:r>
              <a:rPr lang="en-US" sz="2400" spc="-20" dirty="0">
                <a:solidFill>
                  <a:srgbClr val="000000"/>
                </a:solidFill>
                <a:latin typeface="Arial"/>
                <a:cs typeface="Arial"/>
              </a:rPr>
              <a:t>&gt;</a:t>
            </a:r>
            <a:endParaRPr lang="en-US" sz="2400" spc="-2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Arial"/>
              <a:cs typeface="Arial"/>
            </a:endParaRPr>
          </a:p>
          <a:p>
            <a:pPr marR="518795" algn="ctr">
              <a:lnSpc>
                <a:spcPct val="100000"/>
              </a:lnSpc>
              <a:spcBef>
                <a:spcPts val="5"/>
              </a:spcBef>
            </a:pPr>
            <a:r>
              <a:rPr lang="en-US" sz="2400" dirty="0">
                <a:latin typeface="Arial"/>
                <a:cs typeface="Arial"/>
              </a:rPr>
              <a:t>January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lang="en-US" sz="2400" spc="-75" dirty="0">
                <a:latin typeface="Arial"/>
                <a:cs typeface="Arial"/>
              </a:rPr>
              <a:t>6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202</a:t>
            </a:r>
            <a:r>
              <a:rPr lang="en-US" sz="2400" spc="-20" dirty="0">
                <a:latin typeface="Arial"/>
                <a:cs typeface="Arial"/>
              </a:rPr>
              <a:t>6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80594" y="6133598"/>
            <a:ext cx="206375" cy="21223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spc="-25" dirty="0">
                <a:latin typeface="Arial"/>
                <a:cs typeface="Arial"/>
              </a:rPr>
              <a:t>2</a:t>
            </a:r>
            <a:endParaRPr sz="1300" spc="-25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2216" y="940278"/>
            <a:ext cx="631698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Grading</a:t>
            </a:r>
            <a:r>
              <a:rPr spc="-135"/>
              <a:t> </a:t>
            </a:r>
            <a:r>
              <a:t>Policy</a:t>
            </a:r>
            <a:r>
              <a:rPr spc="-114"/>
              <a:t> </a:t>
            </a:r>
            <a:r>
              <a:rPr spc="-10"/>
              <a:t>(Tentative)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4" y="2645203"/>
            <a:ext cx="8135616" cy="2538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8945" indent="-398145">
              <a:lnSpc>
                <a:spcPct val="100000"/>
              </a:lnSpc>
              <a:spcBef>
                <a:spcPts val="95"/>
              </a:spcBef>
              <a:buChar char="●"/>
              <a:tabLst>
                <a:tab pos="448945" algn="l"/>
              </a:tabLst>
            </a:pPr>
            <a:r>
              <a:rPr sz="2500" dirty="0">
                <a:latin typeface="Arial"/>
                <a:cs typeface="Arial"/>
              </a:rPr>
              <a:t>Lab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lang="en-IN" sz="2500" spc="-10" dirty="0">
                <a:latin typeface="Arial"/>
                <a:cs typeface="Arial"/>
              </a:rPr>
              <a:t>Exercises and Project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(</a:t>
            </a:r>
            <a:r>
              <a:rPr lang="en-IN" sz="2500" spc="-20" dirty="0">
                <a:latin typeface="Arial"/>
                <a:cs typeface="Arial"/>
              </a:rPr>
              <a:t>40</a:t>
            </a:r>
            <a:r>
              <a:rPr sz="2500" spc="-20" dirty="0">
                <a:latin typeface="Arial"/>
                <a:cs typeface="Arial"/>
              </a:rPr>
              <a:t>%)</a:t>
            </a:r>
            <a:endParaRPr sz="2500" dirty="0">
              <a:latin typeface="Arial"/>
              <a:cs typeface="Arial"/>
            </a:endParaRPr>
          </a:p>
          <a:p>
            <a:pPr marL="906144" lvl="1" indent="-368300">
              <a:lnSpc>
                <a:spcPts val="2150"/>
              </a:lnSpc>
              <a:spcBef>
                <a:spcPts val="15"/>
              </a:spcBef>
              <a:buChar char="○"/>
              <a:tabLst>
                <a:tab pos="906144" algn="l"/>
              </a:tabLst>
            </a:pPr>
            <a:r>
              <a:rPr sz="2000" dirty="0">
                <a:latin typeface="Arial"/>
                <a:cs typeface="Arial"/>
              </a:rPr>
              <a:t>Attendance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mandatory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sessions.</a:t>
            </a:r>
            <a:endParaRPr lang="en-IN" sz="2000" spc="-10" dirty="0">
              <a:latin typeface="Arial"/>
              <a:cs typeface="Arial"/>
            </a:endParaRPr>
          </a:p>
          <a:p>
            <a:pPr marL="906144" lvl="1" indent="-368300">
              <a:lnSpc>
                <a:spcPts val="2150"/>
              </a:lnSpc>
              <a:spcBef>
                <a:spcPts val="15"/>
              </a:spcBef>
              <a:buChar char="○"/>
              <a:tabLst>
                <a:tab pos="906144" algn="l"/>
              </a:tabLst>
            </a:pPr>
            <a:endParaRPr sz="2000" dirty="0">
              <a:latin typeface="Arial"/>
              <a:cs typeface="Arial"/>
            </a:endParaRPr>
          </a:p>
          <a:p>
            <a:pPr marL="448945" indent="-398145">
              <a:lnSpc>
                <a:spcPts val="2590"/>
              </a:lnSpc>
              <a:buChar char="●"/>
              <a:tabLst>
                <a:tab pos="448945" algn="l"/>
              </a:tabLst>
            </a:pPr>
            <a:r>
              <a:rPr lang="en-IN" sz="2500" dirty="0">
                <a:latin typeface="Arial"/>
                <a:cs typeface="Arial"/>
              </a:rPr>
              <a:t>Quiz and </a:t>
            </a:r>
            <a:r>
              <a:rPr sz="2500" dirty="0">
                <a:latin typeface="Arial"/>
                <a:cs typeface="Arial"/>
              </a:rPr>
              <a:t>Midsem</a:t>
            </a:r>
            <a:r>
              <a:rPr sz="2500" spc="-15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(</a:t>
            </a:r>
            <a:r>
              <a:rPr lang="en-IN" sz="2500" spc="-10" dirty="0">
                <a:latin typeface="Arial"/>
                <a:cs typeface="Arial"/>
              </a:rPr>
              <a:t>25</a:t>
            </a:r>
            <a:r>
              <a:rPr sz="2500" spc="-10" dirty="0">
                <a:latin typeface="Arial"/>
                <a:cs typeface="Arial"/>
              </a:rPr>
              <a:t>%)</a:t>
            </a:r>
            <a:endParaRPr sz="2500" dirty="0">
              <a:latin typeface="Arial"/>
              <a:cs typeface="Arial"/>
            </a:endParaRPr>
          </a:p>
          <a:p>
            <a:pPr marL="906144" lvl="1" indent="-368300">
              <a:lnSpc>
                <a:spcPts val="2120"/>
              </a:lnSpc>
              <a:buChar char="○"/>
              <a:tabLst>
                <a:tab pos="906144" algn="l"/>
              </a:tabLst>
            </a:pPr>
            <a:r>
              <a:rPr sz="2000" dirty="0">
                <a:latin typeface="Arial"/>
                <a:cs typeface="Arial"/>
              </a:rPr>
              <a:t>Will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held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lang="en-US" sz="2000" spc="-60" dirty="0">
                <a:latin typeface="Arial"/>
                <a:cs typeface="Arial"/>
              </a:rPr>
              <a:t>11</a:t>
            </a:r>
            <a:r>
              <a:rPr sz="2000" baseline="25462" dirty="0">
                <a:latin typeface="Arial"/>
                <a:cs typeface="Arial"/>
              </a:rPr>
              <a:t>th</a:t>
            </a:r>
            <a:r>
              <a:rPr sz="2000" spc="195" baseline="25462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February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</a:t>
            </a:r>
            <a:r>
              <a:rPr lang="en-US" sz="2000" spc="-10" dirty="0">
                <a:latin typeface="Arial"/>
                <a:cs typeface="Arial"/>
              </a:rPr>
              <a:t>Wed</a:t>
            </a:r>
            <a:r>
              <a:rPr sz="2000" spc="-10" dirty="0">
                <a:latin typeface="Arial"/>
                <a:cs typeface="Arial"/>
              </a:rPr>
              <a:t>)</a:t>
            </a:r>
            <a:endParaRPr lang="en-IN" sz="2000" spc="-10" dirty="0">
              <a:latin typeface="Arial"/>
              <a:cs typeface="Arial"/>
            </a:endParaRPr>
          </a:p>
          <a:p>
            <a:pPr marL="906144" lvl="1" indent="-368300">
              <a:lnSpc>
                <a:spcPts val="2120"/>
              </a:lnSpc>
              <a:buChar char="○"/>
              <a:tabLst>
                <a:tab pos="906144" algn="l"/>
              </a:tabLst>
            </a:pPr>
            <a:endParaRPr sz="2000" dirty="0">
              <a:latin typeface="Arial"/>
              <a:cs typeface="Arial"/>
            </a:endParaRPr>
          </a:p>
          <a:p>
            <a:pPr marL="448945" indent="-398145">
              <a:lnSpc>
                <a:spcPct val="100000"/>
              </a:lnSpc>
              <a:spcBef>
                <a:spcPts val="130"/>
              </a:spcBef>
              <a:buChar char="●"/>
              <a:tabLst>
                <a:tab pos="448945" algn="l"/>
              </a:tabLst>
            </a:pPr>
            <a:r>
              <a:rPr sz="2500" spc="-10" dirty="0" err="1">
                <a:latin typeface="Arial"/>
                <a:cs typeface="Arial"/>
              </a:rPr>
              <a:t>Endsem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(</a:t>
            </a:r>
            <a:r>
              <a:rPr lang="en-IN" sz="2500" spc="-10" dirty="0">
                <a:latin typeface="Arial"/>
                <a:cs typeface="Arial"/>
              </a:rPr>
              <a:t>35</a:t>
            </a:r>
            <a:r>
              <a:rPr sz="2500" spc="-10" dirty="0">
                <a:latin typeface="Arial"/>
                <a:cs typeface="Arial"/>
              </a:rPr>
              <a:t>%)</a:t>
            </a:r>
            <a:endParaRPr sz="2500" dirty="0">
              <a:latin typeface="Arial"/>
              <a:cs typeface="Arial"/>
            </a:endParaRPr>
          </a:p>
          <a:p>
            <a:pPr marL="906144" lvl="1" indent="-368300">
              <a:lnSpc>
                <a:spcPct val="100000"/>
              </a:lnSpc>
              <a:buChar char="○"/>
              <a:tabLst>
                <a:tab pos="906144" algn="l"/>
              </a:tabLst>
            </a:pPr>
            <a:r>
              <a:rPr sz="2000" dirty="0">
                <a:latin typeface="Arial"/>
                <a:cs typeface="Arial"/>
              </a:rPr>
              <a:t>Will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held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</a:t>
            </a:r>
            <a:r>
              <a:rPr lang="en-US" sz="2000" dirty="0">
                <a:latin typeface="Arial"/>
                <a:cs typeface="Arial"/>
              </a:rPr>
              <a:t>1</a:t>
            </a:r>
            <a:r>
              <a:rPr sz="2000" baseline="25462" dirty="0">
                <a:latin typeface="Arial"/>
                <a:cs typeface="Arial"/>
              </a:rPr>
              <a:t>th</a:t>
            </a:r>
            <a:r>
              <a:rPr sz="2000" spc="-22" baseline="25462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April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(Saturday).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3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649701"/>
            <a:ext cx="6316980" cy="57403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Timings</a:t>
            </a:r>
            <a:r>
              <a:rPr spc="-130" dirty="0"/>
              <a:t> </a:t>
            </a:r>
            <a:r>
              <a:rPr dirty="0"/>
              <a:t>and</a:t>
            </a:r>
            <a:r>
              <a:rPr spc="-140" dirty="0"/>
              <a:t> </a:t>
            </a:r>
            <a:r>
              <a:rPr spc="-10" dirty="0"/>
              <a:t>Venue</a:t>
            </a:r>
            <a:r>
              <a:rPr lang="en-US" spc="-10" dirty="0"/>
              <a:t>: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5799" y="1475210"/>
            <a:ext cx="8801169" cy="189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ts val="3529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4000">
                <a:latin typeface="Arial"/>
                <a:cs typeface="Arial"/>
              </a:rPr>
              <a:t>Lab</a:t>
            </a:r>
            <a:r>
              <a:rPr sz="4000" spc="-35">
                <a:latin typeface="Arial"/>
                <a:cs typeface="Arial"/>
              </a:rPr>
              <a:t> </a:t>
            </a:r>
            <a:r>
              <a:rPr sz="4000" spc="-20">
                <a:latin typeface="Arial"/>
                <a:cs typeface="Arial"/>
              </a:rPr>
              <a:t>slot</a:t>
            </a:r>
            <a:r>
              <a:rPr lang="en-IN" sz="4000" spc="-20">
                <a:latin typeface="Arial"/>
                <a:cs typeface="Arial"/>
              </a:rPr>
              <a:t>s:</a:t>
            </a:r>
          </a:p>
          <a:p>
            <a:pPr marL="12700">
              <a:lnSpc>
                <a:spcPts val="3529"/>
              </a:lnSpc>
              <a:spcBef>
                <a:spcPts val="100"/>
              </a:spcBef>
              <a:tabLst>
                <a:tab pos="469265" algn="l"/>
              </a:tabLst>
            </a:pPr>
            <a:endParaRPr sz="4000">
              <a:latin typeface="Arial"/>
              <a:cs typeface="Arial"/>
            </a:endParaRPr>
          </a:p>
          <a:p>
            <a:pPr marL="926465" lvl="1" indent="-411480">
              <a:lnSpc>
                <a:spcPts val="2810"/>
              </a:lnSpc>
              <a:buChar char="○"/>
              <a:tabLst>
                <a:tab pos="926465" algn="l"/>
              </a:tabLst>
            </a:pPr>
            <a:r>
              <a:rPr sz="4000" spc="-25">
                <a:latin typeface="Arial"/>
                <a:cs typeface="Arial"/>
              </a:rPr>
              <a:t>BTech:</a:t>
            </a:r>
            <a:r>
              <a:rPr sz="4000" spc="-114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Mondays,</a:t>
            </a:r>
            <a:r>
              <a:rPr sz="4000" b="1" spc="-85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2</a:t>
            </a:r>
            <a:r>
              <a:rPr sz="4000" b="1" spc="-75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to</a:t>
            </a:r>
            <a:r>
              <a:rPr sz="4000" b="1" spc="-85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5</a:t>
            </a:r>
            <a:r>
              <a:rPr sz="4000" b="1" spc="-80">
                <a:latin typeface="Arial"/>
                <a:cs typeface="Arial"/>
              </a:rPr>
              <a:t> </a:t>
            </a:r>
            <a:r>
              <a:rPr sz="4000" b="1" spc="-25">
                <a:latin typeface="Arial"/>
                <a:cs typeface="Arial"/>
              </a:rPr>
              <a:t>PM</a:t>
            </a:r>
            <a:endParaRPr sz="4000">
              <a:latin typeface="Arial"/>
              <a:cs typeface="Arial"/>
            </a:endParaRPr>
          </a:p>
          <a:p>
            <a:pPr marL="926465" lvl="1" indent="-411480">
              <a:lnSpc>
                <a:spcPct val="100000"/>
              </a:lnSpc>
              <a:spcBef>
                <a:spcPts val="20"/>
              </a:spcBef>
              <a:buChar char="○"/>
              <a:tabLst>
                <a:tab pos="926465" algn="l"/>
              </a:tabLst>
            </a:pPr>
            <a:r>
              <a:rPr sz="4000">
                <a:latin typeface="Arial"/>
                <a:cs typeface="Arial"/>
              </a:rPr>
              <a:t>DD:</a:t>
            </a:r>
            <a:r>
              <a:rPr sz="4000" spc="-65">
                <a:latin typeface="Arial"/>
                <a:cs typeface="Arial"/>
              </a:rPr>
              <a:t> </a:t>
            </a:r>
            <a:r>
              <a:rPr sz="4000" b="1" spc="-30">
                <a:latin typeface="Arial"/>
                <a:cs typeface="Arial"/>
              </a:rPr>
              <a:t>Tuesdays,</a:t>
            </a:r>
            <a:r>
              <a:rPr sz="4000" b="1" spc="-60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2</a:t>
            </a:r>
            <a:r>
              <a:rPr sz="4000" b="1" spc="-60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to</a:t>
            </a:r>
            <a:r>
              <a:rPr sz="4000" b="1" spc="-90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5</a:t>
            </a:r>
            <a:r>
              <a:rPr sz="4000" b="1" spc="-60">
                <a:latin typeface="Arial"/>
                <a:cs typeface="Arial"/>
              </a:rPr>
              <a:t> </a:t>
            </a:r>
            <a:r>
              <a:rPr sz="4000" b="1" spc="-25">
                <a:latin typeface="Arial"/>
                <a:cs typeface="Arial"/>
              </a:rPr>
              <a:t>PM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505200"/>
            <a:ext cx="9067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[To</a:t>
            </a:r>
            <a:r>
              <a:rPr sz="2000" b="1" i="1" spc="-1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optimize</a:t>
            </a:r>
            <a:r>
              <a:rPr sz="2000" b="1" i="1" spc="-4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lab</a:t>
            </a:r>
            <a:r>
              <a:rPr sz="2000" b="1" i="1" spc="-5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resources,</a:t>
            </a:r>
            <a:r>
              <a:rPr sz="2000" b="1" i="1" spc="-5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B</a:t>
            </a:r>
            <a:r>
              <a:rPr lang="en-US" sz="2000" b="1" i="1">
                <a:highlight>
                  <a:srgbClr val="00FFFF"/>
                </a:highlight>
                <a:latin typeface="Arial"/>
                <a:cs typeface="Arial"/>
              </a:rPr>
              <a:t>.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Tech</a:t>
            </a:r>
            <a:r>
              <a:rPr lang="en-US" sz="2000" b="1" i="1">
                <a:highlight>
                  <a:srgbClr val="00FFFF"/>
                </a:highlight>
                <a:latin typeface="Arial"/>
                <a:cs typeface="Arial"/>
              </a:rPr>
              <a:t>.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 students</a:t>
            </a:r>
            <a:r>
              <a:rPr sz="2000" b="1" i="1" spc="-3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lang="en-US" sz="2000" b="1" i="1" spc="-35">
                <a:highlight>
                  <a:srgbClr val="00FFFF"/>
                </a:highlight>
                <a:latin typeface="Arial"/>
                <a:cs typeface="Arial"/>
              </a:rPr>
              <a:t>[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approx.</a:t>
            </a:r>
            <a:r>
              <a:rPr sz="2000" b="1" i="1" spc="-3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 spc="-10">
                <a:highlight>
                  <a:srgbClr val="00FFFF"/>
                </a:highlight>
                <a:latin typeface="Arial"/>
                <a:cs typeface="Arial"/>
              </a:rPr>
              <a:t>10-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11</a:t>
            </a:r>
            <a:r>
              <a:rPr lang="en-US" sz="2000" b="1" i="1">
                <a:highlight>
                  <a:srgbClr val="00FFFF"/>
                </a:highlight>
                <a:latin typeface="Arial"/>
                <a:cs typeface="Arial"/>
              </a:rPr>
              <a:t>]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will</a:t>
            </a:r>
            <a:r>
              <a:rPr sz="2000" b="1" i="1" spc="-6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be</a:t>
            </a:r>
            <a:r>
              <a:rPr sz="2000" b="1" i="1" spc="-3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moved to</a:t>
            </a:r>
            <a:r>
              <a:rPr sz="2000" b="1" i="1" spc="-4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 spc="-25">
                <a:highlight>
                  <a:srgbClr val="00FFFF"/>
                </a:highlight>
                <a:latin typeface="Arial"/>
                <a:cs typeface="Arial"/>
              </a:rPr>
              <a:t>the</a:t>
            </a:r>
            <a:r>
              <a:rPr lang="en-IN" sz="2000" b="1" i="1" spc="-2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Tuesday</a:t>
            </a:r>
            <a:r>
              <a:rPr sz="2000" b="1" i="1" spc="-3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batch.</a:t>
            </a:r>
            <a:r>
              <a:rPr sz="2000" b="1" i="1" spc="-5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Students</a:t>
            </a:r>
            <a:r>
              <a:rPr sz="2000" b="1" i="1" spc="-4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are</a:t>
            </a:r>
            <a:r>
              <a:rPr sz="2000" b="1" i="1" spc="-5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encouraged</a:t>
            </a:r>
            <a:r>
              <a:rPr sz="2000" b="1" i="1" spc="-4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to</a:t>
            </a:r>
            <a:r>
              <a:rPr sz="2000" b="1" i="1" spc="-4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submit</a:t>
            </a:r>
            <a:r>
              <a:rPr sz="2000" b="1" i="1" spc="-4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a</a:t>
            </a:r>
            <a:r>
              <a:rPr sz="2000" b="1" i="1" spc="-4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voluntary</a:t>
            </a:r>
            <a:r>
              <a:rPr sz="2000" b="1" i="1" spc="-2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request,</a:t>
            </a:r>
            <a:r>
              <a:rPr sz="2000" b="1" i="1" spc="-4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 spc="-20">
                <a:highlight>
                  <a:srgbClr val="00FFFF"/>
                </a:highlight>
                <a:latin typeface="Arial"/>
                <a:cs typeface="Arial"/>
              </a:rPr>
              <a:t>else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random</a:t>
            </a:r>
            <a:r>
              <a:rPr sz="2000" b="1" i="1" spc="-2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allocation</a:t>
            </a:r>
            <a:r>
              <a:rPr sz="2000" b="1" i="1" spc="-6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will</a:t>
            </a:r>
            <a:r>
              <a:rPr sz="2000" b="1" i="1" spc="-45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>
                <a:highlight>
                  <a:srgbClr val="00FFFF"/>
                </a:highlight>
                <a:latin typeface="Arial"/>
                <a:cs typeface="Arial"/>
              </a:rPr>
              <a:t>be</a:t>
            </a:r>
            <a:r>
              <a:rPr sz="2000" b="1" i="1" spc="-2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i="1" spc="-10">
                <a:highlight>
                  <a:srgbClr val="00FFFF"/>
                </a:highlight>
                <a:latin typeface="Arial"/>
                <a:cs typeface="Arial"/>
              </a:rPr>
              <a:t>done].</a:t>
            </a:r>
            <a:endParaRPr sz="2000" i="1">
              <a:highlight>
                <a:srgbClr val="00FFFF"/>
              </a:highlight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4714825"/>
            <a:ext cx="8572568" cy="8937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170" marR="5080" indent="-459105">
              <a:lnSpc>
                <a:spcPct val="120000"/>
              </a:lnSpc>
              <a:spcBef>
                <a:spcPts val="100"/>
              </a:spcBef>
              <a:buChar char="●"/>
              <a:tabLst>
                <a:tab pos="471170" algn="l"/>
              </a:tabLst>
            </a:pPr>
            <a:r>
              <a:rPr sz="2500" b="1">
                <a:latin typeface="Arial"/>
                <a:cs typeface="Arial"/>
              </a:rPr>
              <a:t>Venue:</a:t>
            </a:r>
            <a:r>
              <a:rPr sz="2500" b="1" spc="-80">
                <a:latin typeface="Arial"/>
                <a:cs typeface="Arial"/>
              </a:rPr>
              <a:t> </a:t>
            </a:r>
            <a:r>
              <a:rPr sz="2500" spc="-25">
                <a:latin typeface="Arial"/>
                <a:cs typeface="Arial"/>
              </a:rPr>
              <a:t>WEL-</a:t>
            </a:r>
            <a:r>
              <a:rPr sz="2500">
                <a:latin typeface="Arial"/>
                <a:cs typeface="Arial"/>
              </a:rPr>
              <a:t>4 and</a:t>
            </a:r>
            <a:r>
              <a:rPr sz="2500" spc="-25">
                <a:latin typeface="Arial"/>
                <a:cs typeface="Arial"/>
              </a:rPr>
              <a:t> </a:t>
            </a:r>
            <a:r>
              <a:rPr sz="2500">
                <a:latin typeface="Arial"/>
                <a:cs typeface="Arial"/>
              </a:rPr>
              <a:t>DSP Lab,</a:t>
            </a:r>
            <a:r>
              <a:rPr sz="2500" spc="-55">
                <a:latin typeface="Arial"/>
                <a:cs typeface="Arial"/>
              </a:rPr>
              <a:t> </a:t>
            </a:r>
            <a:r>
              <a:rPr sz="2500">
                <a:latin typeface="Arial"/>
                <a:cs typeface="Arial"/>
              </a:rPr>
              <a:t>3rd</a:t>
            </a:r>
            <a:r>
              <a:rPr sz="2500" spc="-20">
                <a:latin typeface="Arial"/>
                <a:cs typeface="Arial"/>
              </a:rPr>
              <a:t> </a:t>
            </a:r>
            <a:r>
              <a:rPr sz="2500">
                <a:latin typeface="Arial"/>
                <a:cs typeface="Arial"/>
              </a:rPr>
              <a:t>floor</a:t>
            </a:r>
            <a:r>
              <a:rPr sz="2500" spc="-40">
                <a:latin typeface="Arial"/>
                <a:cs typeface="Arial"/>
              </a:rPr>
              <a:t> </a:t>
            </a:r>
            <a:r>
              <a:rPr sz="2500">
                <a:latin typeface="Arial"/>
                <a:cs typeface="Arial"/>
              </a:rPr>
              <a:t>of</a:t>
            </a:r>
            <a:r>
              <a:rPr sz="2500" spc="-30">
                <a:latin typeface="Arial"/>
                <a:cs typeface="Arial"/>
              </a:rPr>
              <a:t> </a:t>
            </a:r>
            <a:r>
              <a:rPr sz="2500">
                <a:latin typeface="Arial"/>
                <a:cs typeface="Arial"/>
              </a:rPr>
              <a:t>EE</a:t>
            </a:r>
            <a:r>
              <a:rPr sz="2500" spc="-50">
                <a:latin typeface="Arial"/>
                <a:cs typeface="Arial"/>
              </a:rPr>
              <a:t> </a:t>
            </a:r>
            <a:r>
              <a:rPr sz="2500" spc="-20">
                <a:latin typeface="Arial"/>
                <a:cs typeface="Arial"/>
              </a:rPr>
              <a:t>main </a:t>
            </a:r>
            <a:r>
              <a:rPr sz="2500" spc="-10">
                <a:latin typeface="Arial"/>
                <a:cs typeface="Arial"/>
              </a:rPr>
              <a:t>building</a:t>
            </a:r>
            <a:r>
              <a:rPr lang="en-IN" sz="2500" spc="-10">
                <a:latin typeface="Arial"/>
                <a:cs typeface="Arial"/>
              </a:rPr>
              <a:t> [same labs as of EE214- Digital Circuits Lab]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4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609600"/>
            <a:ext cx="631698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Course</a:t>
            </a:r>
            <a:r>
              <a:rPr spc="-145"/>
              <a:t> </a:t>
            </a:r>
            <a:r>
              <a:rPr spc="-1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752600"/>
            <a:ext cx="9144000" cy="279563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69265" marR="5080" indent="-457200">
              <a:spcBef>
                <a:spcPts val="100"/>
              </a:spcBef>
              <a:buChar char="●"/>
              <a:tabLst>
                <a:tab pos="471170" algn="l"/>
              </a:tabLst>
            </a:pPr>
            <a:r>
              <a:rPr sz="3000" dirty="0">
                <a:latin typeface="Arial"/>
                <a:cs typeface="Arial"/>
              </a:rPr>
              <a:t>Understand</a:t>
            </a:r>
            <a:r>
              <a:rPr sz="3000" spc="-90" dirty="0">
                <a:latin typeface="Arial"/>
                <a:cs typeface="Arial"/>
              </a:rPr>
              <a:t> </a:t>
            </a:r>
            <a:r>
              <a:rPr lang="en-IN" sz="3000" spc="-90" dirty="0">
                <a:latin typeface="Arial"/>
                <a:cs typeface="Arial"/>
              </a:rPr>
              <a:t>the basic microcontroller architecture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develop</a:t>
            </a:r>
            <a:r>
              <a:rPr sz="3000" spc="-90" dirty="0">
                <a:latin typeface="Arial"/>
                <a:cs typeface="Arial"/>
              </a:rPr>
              <a:t> </a:t>
            </a:r>
            <a:r>
              <a:rPr lang="en-IN" sz="3000" spc="-90" dirty="0">
                <a:latin typeface="Arial"/>
                <a:cs typeface="Arial"/>
              </a:rPr>
              <a:t>programming skills/ </a:t>
            </a:r>
            <a:r>
              <a:rPr sz="3000" dirty="0">
                <a:latin typeface="Arial"/>
                <a:cs typeface="Arial"/>
              </a:rPr>
              <a:t>applications</a:t>
            </a:r>
            <a:r>
              <a:rPr lang="en-IN" sz="3000" dirty="0">
                <a:latin typeface="Arial"/>
                <a:cs typeface="Arial"/>
              </a:rPr>
              <a:t> building </a:t>
            </a:r>
            <a:r>
              <a:rPr sz="3000" dirty="0">
                <a:latin typeface="Arial"/>
                <a:cs typeface="Arial"/>
              </a:rPr>
              <a:t>on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the </a:t>
            </a:r>
            <a:r>
              <a:rPr sz="3000" dirty="0">
                <a:latin typeface="Arial"/>
                <a:cs typeface="Arial"/>
              </a:rPr>
              <a:t>8051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microcontroller</a:t>
            </a:r>
            <a:endParaRPr lang="en-IN" sz="3000" spc="-10" dirty="0">
              <a:latin typeface="Arial"/>
              <a:cs typeface="Arial"/>
            </a:endParaRPr>
          </a:p>
          <a:p>
            <a:pPr marL="469265" marR="5080" indent="-457200">
              <a:lnSpc>
                <a:spcPct val="100000"/>
              </a:lnSpc>
              <a:spcBef>
                <a:spcPts val="100"/>
              </a:spcBef>
              <a:buChar char="●"/>
              <a:tabLst>
                <a:tab pos="471170" algn="l"/>
              </a:tabLst>
            </a:pPr>
            <a:endParaRPr sz="3000">
              <a:latin typeface="Arial"/>
              <a:cs typeface="Arial"/>
            </a:endParaRPr>
          </a:p>
          <a:p>
            <a:pPr marL="469265" marR="559435" indent="-457200">
              <a:lnSpc>
                <a:spcPct val="100000"/>
              </a:lnSpc>
              <a:buChar char="●"/>
              <a:tabLst>
                <a:tab pos="471170" algn="l"/>
              </a:tabLst>
            </a:pPr>
            <a:r>
              <a:rPr sz="3000" dirty="0">
                <a:latin typeface="Arial"/>
                <a:cs typeface="Arial"/>
              </a:rPr>
              <a:t>Complements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the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Microprocessor</a:t>
            </a:r>
            <a:r>
              <a:rPr sz="3000" spc="-9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theory 	</a:t>
            </a:r>
            <a:r>
              <a:rPr sz="3000" dirty="0">
                <a:latin typeface="Arial"/>
                <a:cs typeface="Arial"/>
              </a:rPr>
              <a:t>course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(EE309)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5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685800"/>
            <a:ext cx="631698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Skills</a:t>
            </a:r>
            <a:r>
              <a:rPr spc="-50"/>
              <a:t> </a:t>
            </a:r>
            <a:r>
              <a:rPr spc="-10"/>
              <a:t>Gained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981200"/>
            <a:ext cx="9296400" cy="410721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410845" indent="-398145">
              <a:lnSpc>
                <a:spcPct val="100000"/>
              </a:lnSpc>
              <a:spcBef>
                <a:spcPts val="95"/>
              </a:spcBef>
              <a:buChar char="●"/>
              <a:tabLst>
                <a:tab pos="410845" algn="l"/>
              </a:tabLst>
            </a:pPr>
            <a:r>
              <a:rPr lang="en-US" sz="3000" spc="-10" dirty="0">
                <a:latin typeface="Arial"/>
                <a:cs typeface="Arial"/>
              </a:rPr>
              <a:t>Develop</a:t>
            </a:r>
            <a:r>
              <a:rPr sz="3000" spc="-10" dirty="0">
                <a:latin typeface="Arial"/>
                <a:cs typeface="Arial"/>
              </a:rPr>
              <a:t>,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simulate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1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debug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programs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using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the</a:t>
            </a:r>
            <a:r>
              <a:rPr sz="3000" spc="-1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Keil</a:t>
            </a:r>
            <a:r>
              <a:rPr sz="3000" spc="-12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IDE</a:t>
            </a:r>
            <a:endParaRPr lang="en-IN" sz="3000" spc="-2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845" algn="l"/>
              </a:tabLst>
            </a:pPr>
            <a:endParaRPr sz="3000">
              <a:latin typeface="Arial"/>
              <a:cs typeface="Arial"/>
            </a:endParaRPr>
          </a:p>
          <a:p>
            <a:pPr marL="409575" marR="951230" indent="-398145">
              <a:lnSpc>
                <a:spcPts val="2600"/>
              </a:lnSpc>
              <a:spcBef>
                <a:spcPts val="180"/>
              </a:spcBef>
              <a:buChar char="●"/>
              <a:tabLst>
                <a:tab pos="410209" algn="l"/>
              </a:tabLst>
            </a:pPr>
            <a:r>
              <a:rPr sz="3000" dirty="0">
                <a:latin typeface="Arial"/>
                <a:cs typeface="Arial"/>
              </a:rPr>
              <a:t>Write</a:t>
            </a:r>
            <a:r>
              <a:rPr sz="3000" spc="-1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assembly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13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embedded</a:t>
            </a:r>
            <a:r>
              <a:rPr sz="3000" spc="-1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</a:t>
            </a:r>
            <a:r>
              <a:rPr sz="3000" spc="-1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programs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for</a:t>
            </a:r>
            <a:r>
              <a:rPr sz="3000" spc="-10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given problem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statements</a:t>
            </a:r>
            <a:endParaRPr lang="en-IN" sz="3000" spc="-10" dirty="0">
              <a:latin typeface="Arial"/>
              <a:cs typeface="Arial"/>
            </a:endParaRPr>
          </a:p>
          <a:p>
            <a:pPr marL="409575" marR="951230" indent="-398145">
              <a:lnSpc>
                <a:spcPts val="2600"/>
              </a:lnSpc>
              <a:spcBef>
                <a:spcPts val="180"/>
              </a:spcBef>
              <a:buChar char="●"/>
              <a:tabLst>
                <a:tab pos="410209" algn="l"/>
              </a:tabLst>
            </a:pPr>
            <a:endParaRPr sz="3000">
              <a:latin typeface="Arial"/>
              <a:cs typeface="Arial"/>
            </a:endParaRPr>
          </a:p>
          <a:p>
            <a:pPr marL="410845" indent="-398145">
              <a:lnSpc>
                <a:spcPts val="2500"/>
              </a:lnSpc>
              <a:buChar char="●"/>
              <a:tabLst>
                <a:tab pos="410845" algn="l"/>
              </a:tabLst>
            </a:pPr>
            <a:r>
              <a:rPr sz="2000" spc="-10" dirty="0">
                <a:latin typeface="Arial"/>
                <a:cs typeface="Arial"/>
              </a:rPr>
              <a:t>Interface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variety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peripherals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like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LCD,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keypad,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speakers,</a:t>
            </a:r>
            <a:r>
              <a:rPr lang="en-IN" sz="2000" b="1" spc="-1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ADC/</a:t>
            </a:r>
            <a:r>
              <a:rPr lang="en-IN" sz="2000" b="1" spc="-1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DAC</a:t>
            </a:r>
            <a:r>
              <a:rPr lang="en-US" sz="2000" b="1" spc="-10" dirty="0">
                <a:latin typeface="Arial"/>
                <a:cs typeface="Arial"/>
              </a:rPr>
              <a:t>, RTC modules</a:t>
            </a:r>
            <a:endParaRPr lang="en-IN" sz="2000" b="1" spc="-10" dirty="0">
              <a:latin typeface="Arial"/>
              <a:cs typeface="Arial"/>
            </a:endParaRPr>
          </a:p>
          <a:p>
            <a:pPr marL="410845" indent="-398145">
              <a:lnSpc>
                <a:spcPts val="2500"/>
              </a:lnSpc>
              <a:buChar char="●"/>
              <a:tabLst>
                <a:tab pos="410845" algn="l"/>
              </a:tabLst>
            </a:pPr>
            <a:endParaRPr sz="2000" dirty="0">
              <a:latin typeface="Arial"/>
              <a:cs typeface="Arial"/>
            </a:endParaRPr>
          </a:p>
          <a:p>
            <a:pPr marL="409575" marR="5080" indent="-398145">
              <a:lnSpc>
                <a:spcPts val="2590"/>
              </a:lnSpc>
              <a:spcBef>
                <a:spcPts val="110"/>
              </a:spcBef>
              <a:buChar char="●"/>
              <a:tabLst>
                <a:tab pos="410209" algn="l"/>
              </a:tabLst>
            </a:pPr>
            <a:r>
              <a:rPr sz="2000" spc="-20" dirty="0">
                <a:latin typeface="Arial"/>
                <a:cs typeface="Arial"/>
              </a:rPr>
              <a:t>Understand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implement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various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communication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protocols </a:t>
            </a:r>
            <a:r>
              <a:rPr sz="2000" dirty="0">
                <a:latin typeface="Arial"/>
                <a:cs typeface="Arial"/>
              </a:rPr>
              <a:t>like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SPI,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lang="en-IN" sz="2000" b="1" spc="-40" dirty="0">
                <a:latin typeface="Arial"/>
                <a:cs typeface="Arial"/>
              </a:rPr>
              <a:t>I2C, </a:t>
            </a:r>
            <a:r>
              <a:rPr sz="2000" b="1" spc="-20" dirty="0">
                <a:latin typeface="Arial"/>
                <a:cs typeface="Arial"/>
              </a:rPr>
              <a:t>UART</a:t>
            </a:r>
            <a:endParaRPr sz="200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6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5562" y="685800"/>
            <a:ext cx="2904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Prerequisites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498693"/>
            <a:ext cx="9220199" cy="239360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05"/>
              </a:spcBef>
              <a:buChar char="●"/>
              <a:tabLst>
                <a:tab pos="469265" algn="l"/>
              </a:tabLst>
            </a:pPr>
            <a:r>
              <a:rPr sz="3600">
                <a:latin typeface="Arial"/>
                <a:cs typeface="Arial"/>
              </a:rPr>
              <a:t>EE</a:t>
            </a:r>
            <a:r>
              <a:rPr sz="3600" spc="-45">
                <a:latin typeface="Arial"/>
                <a:cs typeface="Arial"/>
              </a:rPr>
              <a:t> </a:t>
            </a:r>
            <a:r>
              <a:rPr sz="3600">
                <a:latin typeface="Arial"/>
                <a:cs typeface="Arial"/>
              </a:rPr>
              <a:t>214</a:t>
            </a:r>
            <a:r>
              <a:rPr sz="3600" spc="-40">
                <a:latin typeface="Arial"/>
                <a:cs typeface="Arial"/>
              </a:rPr>
              <a:t> </a:t>
            </a:r>
            <a:r>
              <a:rPr sz="3600">
                <a:latin typeface="Arial"/>
                <a:cs typeface="Arial"/>
              </a:rPr>
              <a:t>Digital</a:t>
            </a:r>
            <a:r>
              <a:rPr sz="3600" spc="-55">
                <a:latin typeface="Arial"/>
                <a:cs typeface="Arial"/>
              </a:rPr>
              <a:t> </a:t>
            </a:r>
            <a:r>
              <a:rPr sz="3600" spc="-10">
                <a:latin typeface="Arial"/>
                <a:cs typeface="Arial"/>
              </a:rPr>
              <a:t>circuits</a:t>
            </a:r>
            <a:r>
              <a:rPr lang="en-IN" sz="3600" spc="-10">
                <a:latin typeface="Arial"/>
                <a:cs typeface="Arial"/>
              </a:rPr>
              <a:t> Lab</a:t>
            </a:r>
            <a:endParaRPr sz="36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500"/>
              </a:spcBef>
              <a:buChar char="●"/>
              <a:tabLst>
                <a:tab pos="469265" algn="l"/>
              </a:tabLst>
            </a:pPr>
            <a:r>
              <a:rPr sz="3600">
                <a:latin typeface="Arial"/>
                <a:cs typeface="Arial"/>
              </a:rPr>
              <a:t>EE</a:t>
            </a:r>
            <a:r>
              <a:rPr sz="3600" spc="-45">
                <a:latin typeface="Arial"/>
                <a:cs typeface="Arial"/>
              </a:rPr>
              <a:t> </a:t>
            </a:r>
            <a:r>
              <a:rPr sz="3600">
                <a:latin typeface="Arial"/>
                <a:cs typeface="Arial"/>
              </a:rPr>
              <a:t>224</a:t>
            </a:r>
            <a:r>
              <a:rPr sz="3600" spc="-40">
                <a:latin typeface="Arial"/>
                <a:cs typeface="Arial"/>
              </a:rPr>
              <a:t> </a:t>
            </a:r>
            <a:r>
              <a:rPr sz="3600">
                <a:latin typeface="Arial"/>
                <a:cs typeface="Arial"/>
              </a:rPr>
              <a:t>Digital</a:t>
            </a:r>
            <a:r>
              <a:rPr sz="3600" spc="-55">
                <a:latin typeface="Arial"/>
                <a:cs typeface="Arial"/>
              </a:rPr>
              <a:t> </a:t>
            </a:r>
            <a:r>
              <a:rPr lang="en-IN" sz="3600" spc="-55">
                <a:latin typeface="Arial"/>
                <a:cs typeface="Arial"/>
              </a:rPr>
              <a:t>S</a:t>
            </a:r>
            <a:r>
              <a:rPr sz="3600" spc="-10" err="1">
                <a:latin typeface="Arial"/>
                <a:cs typeface="Arial"/>
              </a:rPr>
              <a:t>ystems</a:t>
            </a:r>
            <a:endParaRPr sz="36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495"/>
              </a:spcBef>
              <a:buChar char="●"/>
              <a:tabLst>
                <a:tab pos="469265" algn="l"/>
              </a:tabLst>
            </a:pPr>
            <a:r>
              <a:rPr sz="3600">
                <a:latin typeface="Arial"/>
                <a:cs typeface="Arial"/>
              </a:rPr>
              <a:t>EE</a:t>
            </a:r>
            <a:r>
              <a:rPr sz="3600" spc="-30">
                <a:latin typeface="Arial"/>
                <a:cs typeface="Arial"/>
              </a:rPr>
              <a:t> </a:t>
            </a:r>
            <a:r>
              <a:rPr sz="3600">
                <a:latin typeface="Arial"/>
                <a:cs typeface="Arial"/>
              </a:rPr>
              <a:t>309</a:t>
            </a:r>
            <a:r>
              <a:rPr sz="3600" spc="-15">
                <a:latin typeface="Arial"/>
                <a:cs typeface="Arial"/>
              </a:rPr>
              <a:t> </a:t>
            </a:r>
            <a:r>
              <a:rPr sz="3600" spc="-10">
                <a:latin typeface="Arial"/>
                <a:cs typeface="Arial"/>
              </a:rPr>
              <a:t>Microprocessors</a:t>
            </a:r>
            <a:endParaRPr sz="3600">
              <a:latin typeface="Arial"/>
              <a:cs typeface="Arial"/>
            </a:endParaRPr>
          </a:p>
          <a:p>
            <a:pPr marL="926465" lvl="1" indent="-411480">
              <a:lnSpc>
                <a:spcPct val="100000"/>
              </a:lnSpc>
              <a:spcBef>
                <a:spcPts val="530"/>
              </a:spcBef>
              <a:buChar char="○"/>
              <a:tabLst>
                <a:tab pos="926465" algn="l"/>
              </a:tabLst>
            </a:pPr>
            <a:r>
              <a:rPr lang="en-IN" sz="3000" b="1" spc="-40">
                <a:latin typeface="Arial"/>
                <a:cs typeface="Arial"/>
              </a:rPr>
              <a:t>T</a:t>
            </a:r>
            <a:r>
              <a:rPr sz="3000" b="1" spc="-40" err="1">
                <a:latin typeface="Arial"/>
                <a:cs typeface="Arial"/>
              </a:rPr>
              <a:t>aking</a:t>
            </a:r>
            <a:r>
              <a:rPr sz="3000" b="1" spc="-130">
                <a:latin typeface="Arial"/>
                <a:cs typeface="Arial"/>
              </a:rPr>
              <a:t> </a:t>
            </a:r>
            <a:r>
              <a:rPr lang="en-IN" sz="3000" b="1">
                <a:latin typeface="Arial"/>
                <a:cs typeface="Arial"/>
              </a:rPr>
              <a:t>the course in</a:t>
            </a:r>
            <a:r>
              <a:rPr sz="3000" b="1" spc="-100">
                <a:latin typeface="Arial"/>
                <a:cs typeface="Arial"/>
              </a:rPr>
              <a:t> </a:t>
            </a:r>
            <a:r>
              <a:rPr sz="3000" b="1">
                <a:latin typeface="Arial"/>
                <a:cs typeface="Arial"/>
              </a:rPr>
              <a:t>this</a:t>
            </a:r>
            <a:r>
              <a:rPr sz="3000" b="1" spc="-95">
                <a:latin typeface="Arial"/>
                <a:cs typeface="Arial"/>
              </a:rPr>
              <a:t> </a:t>
            </a:r>
            <a:r>
              <a:rPr sz="3000" b="1">
                <a:latin typeface="Arial"/>
                <a:cs typeface="Arial"/>
              </a:rPr>
              <a:t>semester</a:t>
            </a:r>
            <a:r>
              <a:rPr sz="3000" b="1" spc="-80">
                <a:latin typeface="Arial"/>
                <a:cs typeface="Arial"/>
              </a:rPr>
              <a:t> </a:t>
            </a:r>
            <a:r>
              <a:rPr sz="3000" b="1">
                <a:latin typeface="Arial"/>
                <a:cs typeface="Arial"/>
              </a:rPr>
              <a:t>is</a:t>
            </a:r>
            <a:r>
              <a:rPr sz="3000" b="1" spc="-95">
                <a:latin typeface="Arial"/>
                <a:cs typeface="Arial"/>
              </a:rPr>
              <a:t> </a:t>
            </a:r>
            <a:r>
              <a:rPr sz="3000" b="1">
                <a:latin typeface="Arial"/>
                <a:cs typeface="Arial"/>
              </a:rPr>
              <a:t>also</a:t>
            </a:r>
            <a:r>
              <a:rPr sz="3000" b="1" spc="-90">
                <a:latin typeface="Arial"/>
                <a:cs typeface="Arial"/>
              </a:rPr>
              <a:t> </a:t>
            </a:r>
            <a:r>
              <a:rPr sz="3000" b="1" spc="-20">
                <a:latin typeface="Arial"/>
                <a:cs typeface="Arial"/>
              </a:rPr>
              <a:t>fine</a:t>
            </a:r>
            <a:endParaRPr sz="3000" b="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7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6530" y="609600"/>
            <a:ext cx="631698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Mandatory</a:t>
            </a:r>
            <a:r>
              <a:rPr spc="-220"/>
              <a:t> </a:t>
            </a:r>
            <a:r>
              <a:rPr spc="-10"/>
              <a:t>Attendance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1001" y="1471498"/>
            <a:ext cx="9448800" cy="6968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2440" marR="24130" indent="-426720">
              <a:lnSpc>
                <a:spcPct val="100000"/>
              </a:lnSpc>
              <a:spcBef>
                <a:spcPts val="100"/>
              </a:spcBef>
              <a:buChar char="●"/>
              <a:tabLst>
                <a:tab pos="474345" algn="l"/>
              </a:tabLst>
            </a:pPr>
            <a:r>
              <a:rPr sz="2500"/>
              <a:t>Be</a:t>
            </a:r>
            <a:r>
              <a:rPr sz="2500" spc="-105"/>
              <a:t> </a:t>
            </a:r>
            <a:r>
              <a:rPr sz="2500"/>
              <a:t>present</a:t>
            </a:r>
            <a:r>
              <a:rPr sz="2500" spc="-110"/>
              <a:t> </a:t>
            </a:r>
            <a:r>
              <a:rPr sz="2500"/>
              <a:t>in</a:t>
            </a:r>
            <a:r>
              <a:rPr sz="2500" spc="-105"/>
              <a:t> </a:t>
            </a:r>
            <a:r>
              <a:rPr sz="2500"/>
              <a:t>the</a:t>
            </a:r>
            <a:r>
              <a:rPr sz="2500" spc="-80"/>
              <a:t> </a:t>
            </a:r>
            <a:r>
              <a:rPr sz="2500"/>
              <a:t>lab</a:t>
            </a:r>
            <a:r>
              <a:rPr sz="2500" spc="-85"/>
              <a:t> </a:t>
            </a:r>
            <a:r>
              <a:rPr sz="2500"/>
              <a:t>slot</a:t>
            </a:r>
            <a:r>
              <a:rPr sz="2500" spc="-105"/>
              <a:t> </a:t>
            </a:r>
            <a:r>
              <a:rPr lang="en-IN" sz="2500"/>
              <a:t>before</a:t>
            </a:r>
            <a:r>
              <a:rPr sz="2500" spc="-90"/>
              <a:t> </a:t>
            </a:r>
            <a:r>
              <a:rPr sz="2500"/>
              <a:t>2</a:t>
            </a:r>
            <a:r>
              <a:rPr sz="2500" spc="-55"/>
              <a:t> </a:t>
            </a:r>
            <a:r>
              <a:rPr sz="2500"/>
              <a:t>pm</a:t>
            </a:r>
            <a:r>
              <a:rPr sz="2500" spc="-70"/>
              <a:t> </a:t>
            </a:r>
            <a:r>
              <a:rPr sz="2500"/>
              <a:t>(5</a:t>
            </a:r>
            <a:r>
              <a:rPr sz="2500" spc="-55"/>
              <a:t> </a:t>
            </a:r>
            <a:r>
              <a:rPr sz="2500"/>
              <a:t>min.</a:t>
            </a:r>
            <a:r>
              <a:rPr sz="2500" spc="-55"/>
              <a:t> </a:t>
            </a:r>
            <a:r>
              <a:rPr sz="2500"/>
              <a:t>buffer</a:t>
            </a:r>
            <a:r>
              <a:rPr sz="2500" spc="-75"/>
              <a:t> </a:t>
            </a:r>
            <a:r>
              <a:rPr sz="2500" spc="-20"/>
              <a:t>time </a:t>
            </a:r>
            <a:r>
              <a:rPr sz="2500"/>
              <a:t>with</a:t>
            </a:r>
            <a:r>
              <a:rPr sz="2500" spc="-75"/>
              <a:t> </a:t>
            </a:r>
            <a:r>
              <a:rPr sz="2500"/>
              <a:t>late</a:t>
            </a:r>
            <a:r>
              <a:rPr sz="2500" spc="-75"/>
              <a:t> </a:t>
            </a:r>
            <a:r>
              <a:rPr sz="2500"/>
              <a:t>entry).</a:t>
            </a:r>
            <a:r>
              <a:rPr sz="2500" spc="-90"/>
              <a:t> </a:t>
            </a:r>
            <a:r>
              <a:rPr sz="2500" b="1">
                <a:solidFill>
                  <a:srgbClr val="FF0000"/>
                </a:solidFill>
                <a:latin typeface="Arial"/>
                <a:cs typeface="Arial"/>
              </a:rPr>
              <a:t>No</a:t>
            </a:r>
            <a:r>
              <a:rPr sz="2500" b="1" spc="-8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>
                <a:solidFill>
                  <a:srgbClr val="FF0000"/>
                </a:solidFill>
                <a:latin typeface="Arial"/>
                <a:cs typeface="Arial"/>
              </a:rPr>
              <a:t>entry</a:t>
            </a:r>
            <a:r>
              <a:rPr sz="2500" b="1" spc="-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500" b="1" spc="-9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500" b="1" spc="-7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>
                <a:solidFill>
                  <a:srgbClr val="FF0000"/>
                </a:solidFill>
                <a:latin typeface="Arial"/>
                <a:cs typeface="Arial"/>
              </a:rPr>
              <a:t>lab</a:t>
            </a:r>
            <a:r>
              <a:rPr sz="2500" b="1" spc="-8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>
                <a:solidFill>
                  <a:srgbClr val="FF0000"/>
                </a:solidFill>
                <a:latin typeface="Arial"/>
                <a:cs typeface="Arial"/>
              </a:rPr>
              <a:t>after</a:t>
            </a:r>
            <a:r>
              <a:rPr sz="2500" b="1" spc="-8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spc="-10">
                <a:solidFill>
                  <a:srgbClr val="FF0000"/>
                </a:solidFill>
                <a:latin typeface="Arial"/>
                <a:cs typeface="Arial"/>
              </a:rPr>
              <a:t>2.05pm</a:t>
            </a:r>
            <a:r>
              <a:rPr sz="2500" spc="-10">
                <a:solidFill>
                  <a:srgbClr val="FF0000"/>
                </a:solidFill>
              </a:rPr>
              <a:t>.</a:t>
            </a:r>
          </a:p>
          <a:p>
            <a:pPr marL="33655">
              <a:lnSpc>
                <a:spcPct val="100000"/>
              </a:lnSpc>
              <a:spcBef>
                <a:spcPts val="10"/>
              </a:spcBef>
              <a:buFont typeface="Arial"/>
              <a:buChar char="●"/>
            </a:pPr>
            <a:endParaRPr sz="2500" spc="-10">
              <a:solidFill>
                <a:srgbClr val="FF0000"/>
              </a:solidFill>
            </a:endParaRPr>
          </a:p>
          <a:p>
            <a:pPr marL="474345" marR="287655" indent="-428625">
              <a:lnSpc>
                <a:spcPct val="133000"/>
              </a:lnSpc>
              <a:buChar char="●"/>
              <a:tabLst>
                <a:tab pos="474345" algn="l"/>
              </a:tabLst>
            </a:pPr>
            <a:r>
              <a:rPr sz="2500"/>
              <a:t>If</a:t>
            </a:r>
            <a:r>
              <a:rPr sz="2500" spc="-105"/>
              <a:t> </a:t>
            </a:r>
            <a:r>
              <a:rPr sz="2500"/>
              <a:t>you</a:t>
            </a:r>
            <a:r>
              <a:rPr sz="2500" spc="-100"/>
              <a:t> </a:t>
            </a:r>
            <a:r>
              <a:rPr sz="2500"/>
              <a:t>cannot</a:t>
            </a:r>
            <a:r>
              <a:rPr sz="2500" spc="-105"/>
              <a:t> </a:t>
            </a:r>
            <a:r>
              <a:rPr sz="2500"/>
              <a:t>attend</a:t>
            </a:r>
            <a:r>
              <a:rPr sz="2500" spc="-95"/>
              <a:t> </a:t>
            </a:r>
            <a:r>
              <a:rPr sz="2500"/>
              <a:t>a</a:t>
            </a:r>
            <a:r>
              <a:rPr sz="2500" spc="-80"/>
              <a:t> </a:t>
            </a:r>
            <a:r>
              <a:rPr sz="2500"/>
              <a:t>lab</a:t>
            </a:r>
            <a:r>
              <a:rPr sz="2500" spc="-60"/>
              <a:t> </a:t>
            </a:r>
            <a:r>
              <a:rPr sz="2500"/>
              <a:t>session</a:t>
            </a:r>
            <a:r>
              <a:rPr sz="2500" spc="-110"/>
              <a:t> </a:t>
            </a:r>
            <a:r>
              <a:rPr lang="en-IN" sz="2500" b="1">
                <a:latin typeface="Arial"/>
                <a:cs typeface="Arial"/>
              </a:rPr>
              <a:t>due to </a:t>
            </a:r>
            <a:r>
              <a:rPr sz="2500" b="1">
                <a:latin typeface="Arial"/>
                <a:cs typeface="Arial"/>
              </a:rPr>
              <a:t>medical</a:t>
            </a:r>
            <a:r>
              <a:rPr sz="2500" b="1" spc="-45">
                <a:latin typeface="Arial"/>
                <a:cs typeface="Arial"/>
              </a:rPr>
              <a:t> </a:t>
            </a:r>
            <a:r>
              <a:rPr sz="2500" b="1" spc="-20">
                <a:latin typeface="Arial"/>
                <a:cs typeface="Arial"/>
              </a:rPr>
              <a:t>reasons</a:t>
            </a:r>
            <a:r>
              <a:rPr sz="2500" spc="-20"/>
              <a:t>,</a:t>
            </a:r>
            <a:r>
              <a:rPr lang="en-IN" sz="2500" spc="-20"/>
              <a:t> </a:t>
            </a:r>
            <a:r>
              <a:rPr sz="2500"/>
              <a:t>inform</a:t>
            </a:r>
            <a:r>
              <a:rPr sz="2500" spc="-114"/>
              <a:t> </a:t>
            </a:r>
            <a:r>
              <a:rPr sz="2500" spc="-25"/>
              <a:t>us </a:t>
            </a:r>
            <a:r>
              <a:rPr sz="2500"/>
              <a:t>and</a:t>
            </a:r>
            <a:r>
              <a:rPr sz="2500" spc="-90"/>
              <a:t> </a:t>
            </a:r>
            <a:r>
              <a:rPr sz="2500"/>
              <a:t>your</a:t>
            </a:r>
            <a:r>
              <a:rPr sz="2500" spc="-145"/>
              <a:t> </a:t>
            </a:r>
            <a:r>
              <a:rPr sz="2500" spc="-25"/>
              <a:t>TA</a:t>
            </a:r>
            <a:endParaRPr lang="en-IN" sz="2500" spc="-25"/>
          </a:p>
          <a:p>
            <a:pPr marL="930910" lvl="1" indent="-381635">
              <a:lnSpc>
                <a:spcPct val="100000"/>
              </a:lnSpc>
              <a:spcBef>
                <a:spcPts val="254"/>
              </a:spcBef>
              <a:buChar char="○"/>
              <a:tabLst>
                <a:tab pos="930910" algn="l"/>
              </a:tabLst>
            </a:pPr>
            <a:r>
              <a:rPr lang="en-US" sz="2500">
                <a:latin typeface="Arial"/>
                <a:cs typeface="Arial"/>
              </a:rPr>
              <a:t>Email ids:</a:t>
            </a:r>
            <a:r>
              <a:rPr lang="en-US" sz="2500" spc="-45">
                <a:latin typeface="Arial"/>
                <a:cs typeface="Arial"/>
              </a:rPr>
              <a:t> </a:t>
            </a:r>
            <a:r>
              <a:rPr lang="en-US" sz="2500" u="sng" spc="-10">
                <a:solidFill>
                  <a:srgbClr val="0000FF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patkar@ee.iitb.ac.in</a:t>
            </a:r>
            <a:r>
              <a:rPr lang="en-US" sz="2500" spc="-10">
                <a:latin typeface="Arial"/>
                <a:cs typeface="Arial"/>
                <a:hlinkClick r:id="rId2"/>
              </a:rPr>
              <a:t>,</a:t>
            </a:r>
            <a:r>
              <a:rPr lang="en-US" sz="2500" spc="-80">
                <a:latin typeface="Arial"/>
                <a:cs typeface="Arial"/>
              </a:rPr>
              <a:t> </a:t>
            </a:r>
            <a:r>
              <a:rPr lang="en-US" sz="2500" u="sng" spc="-20">
                <a:solidFill>
                  <a:srgbClr val="0000FF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3"/>
              </a:rPr>
              <a:t>mab@ee.iitb.ac.in</a:t>
            </a:r>
            <a:r>
              <a:rPr lang="en-US" sz="2500" u="sng" spc="-20">
                <a:solidFill>
                  <a:srgbClr val="0000FF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</a:rPr>
              <a:t>, amits@ee.iitb.ac.in</a:t>
            </a:r>
            <a:r>
              <a:rPr lang="en-US" sz="2500" spc="-8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500">
                <a:latin typeface="Arial"/>
                <a:cs typeface="Arial"/>
              </a:rPr>
              <a:t>with</a:t>
            </a:r>
            <a:r>
              <a:rPr lang="en-US" sz="2500" spc="-45">
                <a:latin typeface="Arial"/>
                <a:cs typeface="Arial"/>
              </a:rPr>
              <a:t> </a:t>
            </a:r>
            <a:r>
              <a:rPr lang="en-US" sz="2500">
                <a:latin typeface="Arial"/>
                <a:cs typeface="Arial"/>
              </a:rPr>
              <a:t>‘cc’</a:t>
            </a:r>
            <a:r>
              <a:rPr lang="en-US" sz="2500" spc="-30">
                <a:latin typeface="Arial"/>
                <a:cs typeface="Arial"/>
              </a:rPr>
              <a:t> </a:t>
            </a:r>
            <a:r>
              <a:rPr lang="en-US" sz="2500" spc="-25">
                <a:latin typeface="Arial"/>
                <a:cs typeface="Arial"/>
              </a:rPr>
              <a:t>to</a:t>
            </a:r>
            <a:endParaRPr lang="en-US" sz="2500">
              <a:latin typeface="Arial"/>
              <a:cs typeface="Arial"/>
            </a:endParaRPr>
          </a:p>
          <a:p>
            <a:pPr marL="1388110" lvl="2" indent="-381635">
              <a:lnSpc>
                <a:spcPct val="100000"/>
              </a:lnSpc>
              <a:buChar char="■"/>
              <a:tabLst>
                <a:tab pos="1388110" algn="l"/>
              </a:tabLst>
            </a:pPr>
            <a:r>
              <a:rPr lang="en-US" sz="2500" err="1">
                <a:latin typeface="Arial"/>
                <a:cs typeface="Arial"/>
              </a:rPr>
              <a:t>Batta</a:t>
            </a:r>
            <a:r>
              <a:rPr lang="en-US" sz="2500" spc="-70">
                <a:latin typeface="Arial"/>
                <a:cs typeface="Arial"/>
              </a:rPr>
              <a:t> </a:t>
            </a:r>
            <a:r>
              <a:rPr lang="en-US" sz="2500">
                <a:latin typeface="Arial"/>
                <a:cs typeface="Arial"/>
              </a:rPr>
              <a:t>Hemanth</a:t>
            </a:r>
            <a:r>
              <a:rPr lang="en-US" sz="2500" spc="-45">
                <a:latin typeface="Arial"/>
                <a:cs typeface="Arial"/>
              </a:rPr>
              <a:t> </a:t>
            </a:r>
            <a:r>
              <a:rPr lang="en-US" sz="2500">
                <a:latin typeface="Arial"/>
                <a:cs typeface="Arial"/>
              </a:rPr>
              <a:t>Kumar</a:t>
            </a:r>
            <a:r>
              <a:rPr lang="en-US" sz="2500" spc="-55">
                <a:latin typeface="Arial"/>
                <a:cs typeface="Arial"/>
              </a:rPr>
              <a:t> </a:t>
            </a:r>
            <a:r>
              <a:rPr lang="en-US" sz="25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23m1183@iitb.ac.in</a:t>
            </a:r>
            <a:r>
              <a:rPr lang="en-US" sz="2500" spc="-7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500">
                <a:latin typeface="Arial"/>
                <a:cs typeface="Arial"/>
              </a:rPr>
              <a:t>(RA)</a:t>
            </a:r>
            <a:r>
              <a:rPr lang="en-US" sz="2500" spc="-60">
                <a:latin typeface="Arial"/>
                <a:cs typeface="Arial"/>
              </a:rPr>
              <a:t> </a:t>
            </a:r>
            <a:r>
              <a:rPr lang="en-US" sz="2500" spc="-25">
                <a:latin typeface="Arial"/>
                <a:cs typeface="Arial"/>
              </a:rPr>
              <a:t>and</a:t>
            </a:r>
            <a:endParaRPr lang="en-US" sz="2500">
              <a:latin typeface="Arial"/>
              <a:cs typeface="Arial"/>
            </a:endParaRPr>
          </a:p>
          <a:p>
            <a:pPr marL="1388110" lvl="2" indent="-381635">
              <a:lnSpc>
                <a:spcPct val="100000"/>
              </a:lnSpc>
              <a:buChar char="■"/>
              <a:tabLst>
                <a:tab pos="1388110" algn="l"/>
              </a:tabLst>
            </a:pPr>
            <a:r>
              <a:rPr lang="en-US" sz="2500" spc="-25">
                <a:latin typeface="Arial"/>
                <a:cs typeface="Arial"/>
              </a:rPr>
              <a:t>Your</a:t>
            </a:r>
            <a:r>
              <a:rPr lang="en-US" sz="2500" spc="-85">
                <a:latin typeface="Arial"/>
                <a:cs typeface="Arial"/>
              </a:rPr>
              <a:t> </a:t>
            </a:r>
            <a:r>
              <a:rPr lang="en-US" sz="2500" spc="-20">
                <a:latin typeface="Arial"/>
                <a:cs typeface="Arial"/>
              </a:rPr>
              <a:t>assigned</a:t>
            </a:r>
            <a:r>
              <a:rPr lang="en-US" sz="2500" spc="-85">
                <a:latin typeface="Arial"/>
                <a:cs typeface="Arial"/>
              </a:rPr>
              <a:t> </a:t>
            </a:r>
            <a:r>
              <a:rPr lang="en-US" sz="2500" spc="-25">
                <a:latin typeface="Arial"/>
                <a:cs typeface="Arial"/>
              </a:rPr>
              <a:t>TA</a:t>
            </a:r>
            <a:endParaRPr lang="en-US" sz="2500" spc="-25">
              <a:solidFill>
                <a:schemeClr val="tx1"/>
              </a:solidFill>
              <a:latin typeface="Arial"/>
              <a:cs typeface="Arial"/>
            </a:endParaRPr>
          </a:p>
          <a:p>
            <a:pPr marL="1006475" lvl="2">
              <a:lnSpc>
                <a:spcPct val="100000"/>
              </a:lnSpc>
              <a:tabLst>
                <a:tab pos="1388110" algn="l"/>
              </a:tabLst>
            </a:pPr>
            <a:r>
              <a:rPr lang="en-US" sz="2500" b="1">
                <a:solidFill>
                  <a:srgbClr val="FF0000"/>
                </a:solidFill>
                <a:latin typeface="Arial"/>
                <a:cs typeface="Arial"/>
              </a:rPr>
              <a:t>[Only accepted document is</a:t>
            </a:r>
            <a:r>
              <a:rPr lang="en-US" sz="2500" b="1" spc="-55">
                <a:solidFill>
                  <a:srgbClr val="FF0000"/>
                </a:solidFill>
                <a:latin typeface="Arial"/>
                <a:cs typeface="Arial"/>
              </a:rPr>
              <a:t> the </a:t>
            </a:r>
            <a:r>
              <a:rPr lang="en-US" sz="2500" b="1">
                <a:solidFill>
                  <a:srgbClr val="FF0000"/>
                </a:solidFill>
                <a:latin typeface="Arial"/>
                <a:cs typeface="Arial"/>
              </a:rPr>
              <a:t>Pink</a:t>
            </a:r>
            <a:r>
              <a:rPr lang="en-US" sz="2500" b="1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FF0000"/>
                </a:solidFill>
                <a:latin typeface="Arial"/>
                <a:cs typeface="Arial"/>
              </a:rPr>
              <a:t>Slip</a:t>
            </a:r>
            <a:r>
              <a:rPr lang="en-US" sz="2500" b="1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lang="en-US" sz="2500" b="1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FF0000"/>
                </a:solidFill>
                <a:latin typeface="Arial"/>
                <a:cs typeface="Arial"/>
              </a:rPr>
              <a:t>IITB</a:t>
            </a:r>
            <a:r>
              <a:rPr lang="en-US" sz="2500" b="1" spc="-5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FF0000"/>
                </a:solidFill>
                <a:latin typeface="Arial"/>
                <a:cs typeface="Arial"/>
              </a:rPr>
              <a:t>Hospital for the medical reasons</a:t>
            </a:r>
            <a:r>
              <a:rPr lang="en-US" sz="2500" b="1" spc="-10">
                <a:solidFill>
                  <a:srgbClr val="FF0000"/>
                </a:solidFill>
                <a:latin typeface="Arial"/>
                <a:cs typeface="Arial"/>
              </a:rPr>
              <a:t>]</a:t>
            </a:r>
          </a:p>
          <a:p>
            <a:pPr marL="474345" marR="287655" indent="-428625">
              <a:lnSpc>
                <a:spcPct val="133000"/>
              </a:lnSpc>
              <a:buChar char="●"/>
              <a:tabLst>
                <a:tab pos="474345" algn="l"/>
              </a:tabLst>
            </a:pPr>
            <a:r>
              <a:rPr lang="en-IN" sz="2500" spc="-25"/>
              <a:t>You will be marked </a:t>
            </a:r>
            <a:r>
              <a:rPr lang="en-IN" sz="2500" b="1" spc="-25">
                <a:solidFill>
                  <a:srgbClr val="FF0000"/>
                </a:solidFill>
              </a:rPr>
              <a:t>ABSENT</a:t>
            </a:r>
            <a:r>
              <a:rPr lang="en-IN" sz="2500" spc="-25"/>
              <a:t> if you miss the lab due to any other reasons and </a:t>
            </a:r>
            <a:r>
              <a:rPr lang="en-IN" sz="2500" b="1" spc="-25">
                <a:solidFill>
                  <a:srgbClr val="FF0000"/>
                </a:solidFill>
              </a:rPr>
              <a:t>NO CREDIT</a:t>
            </a:r>
            <a:r>
              <a:rPr lang="en-IN" sz="2500" b="1" spc="-25"/>
              <a:t> </a:t>
            </a:r>
            <a:r>
              <a:rPr lang="en-IN" sz="2500" spc="-25"/>
              <a:t>will be awarded for that week.</a:t>
            </a:r>
          </a:p>
          <a:p>
            <a:pPr marL="474345" marR="287655" indent="-428625">
              <a:lnSpc>
                <a:spcPct val="133000"/>
              </a:lnSpc>
              <a:buChar char="●"/>
              <a:tabLst>
                <a:tab pos="474345" algn="l"/>
              </a:tabLst>
            </a:pPr>
            <a:endParaRPr lang="en-IN" sz="2500" spc="-25"/>
          </a:p>
          <a:p>
            <a:pPr marL="474345" marR="287655" indent="-428625">
              <a:lnSpc>
                <a:spcPct val="133000"/>
              </a:lnSpc>
              <a:buChar char="●"/>
              <a:tabLst>
                <a:tab pos="474345" algn="l"/>
              </a:tabLst>
            </a:pPr>
            <a:endParaRPr sz="2500">
              <a:latin typeface="Arial"/>
              <a:cs typeface="Arial"/>
            </a:endParaRPr>
          </a:p>
          <a:p>
            <a:pPr marL="1006475" lvl="2">
              <a:lnSpc>
                <a:spcPct val="100000"/>
              </a:lnSpc>
              <a:tabLst>
                <a:tab pos="1388110" algn="l"/>
              </a:tabLst>
            </a:pPr>
            <a:endParaRPr lang="en-IN" sz="2500" b="1" spc="-1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8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533400"/>
            <a:ext cx="631698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/>
              <a:t>Lab Logistics</a:t>
            </a:r>
            <a:endParaRPr spc="-10"/>
          </a:p>
        </p:txBody>
      </p:sp>
      <p:sp>
        <p:nvSpPr>
          <p:cNvPr id="3" name="object 3"/>
          <p:cNvSpPr txBox="1"/>
          <p:nvPr/>
        </p:nvSpPr>
        <p:spPr>
          <a:xfrm>
            <a:off x="599222" y="1572160"/>
            <a:ext cx="9154378" cy="364138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387985" indent="-375285">
              <a:lnSpc>
                <a:spcPct val="100000"/>
              </a:lnSpc>
              <a:spcBef>
                <a:spcPts val="95"/>
              </a:spcBef>
              <a:buChar char="●"/>
              <a:tabLst>
                <a:tab pos="387985" algn="l"/>
              </a:tabLst>
            </a:pPr>
            <a:r>
              <a:rPr sz="2500" dirty="0">
                <a:latin typeface="Arial"/>
                <a:cs typeface="Arial"/>
              </a:rPr>
              <a:t>Each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student</a:t>
            </a:r>
            <a:r>
              <a:rPr sz="2500" spc="-10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will</a:t>
            </a:r>
            <a:r>
              <a:rPr sz="2500" spc="-75" dirty="0">
                <a:latin typeface="Arial"/>
                <a:cs typeface="Arial"/>
              </a:rPr>
              <a:t> </a:t>
            </a:r>
            <a:r>
              <a:rPr sz="2500" spc="-30" dirty="0">
                <a:latin typeface="Arial"/>
                <a:cs typeface="Arial"/>
              </a:rPr>
              <a:t>be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60" dirty="0">
                <a:latin typeface="Arial"/>
                <a:cs typeface="Arial"/>
              </a:rPr>
              <a:t>issued</a:t>
            </a:r>
            <a:r>
              <a:rPr sz="2500" spc="-8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Pt-</a:t>
            </a:r>
            <a:r>
              <a:rPr sz="2500" dirty="0">
                <a:latin typeface="Arial"/>
                <a:cs typeface="Arial"/>
              </a:rPr>
              <a:t>51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board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against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lang="en-IN" sz="2500" spc="-30" dirty="0">
                <a:latin typeface="Arial"/>
                <a:cs typeface="Arial"/>
              </a:rPr>
              <a:t>the </a:t>
            </a:r>
            <a:r>
              <a:rPr sz="2500" dirty="0">
                <a:latin typeface="Arial"/>
                <a:cs typeface="Arial"/>
              </a:rPr>
              <a:t>I</a:t>
            </a:r>
            <a:r>
              <a:rPr lang="en-IN" sz="2500" dirty="0">
                <a:latin typeface="Arial"/>
                <a:cs typeface="Arial"/>
              </a:rPr>
              <a:t>-</a:t>
            </a:r>
            <a:r>
              <a:rPr sz="2500" dirty="0">
                <a:latin typeface="Arial"/>
                <a:cs typeface="Arial"/>
              </a:rPr>
              <a:t>Card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during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lab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session</a:t>
            </a:r>
            <a:endParaRPr lang="en-US" sz="2500" spc="-10" dirty="0">
              <a:latin typeface="Arial"/>
              <a:cs typeface="Arial"/>
            </a:endParaRPr>
          </a:p>
          <a:p>
            <a:pPr marL="387985" indent="-375285">
              <a:spcBef>
                <a:spcPts val="95"/>
              </a:spcBef>
              <a:buFontTx/>
              <a:buChar char="●"/>
              <a:tabLst>
                <a:tab pos="387985" algn="l"/>
              </a:tabLst>
            </a:pPr>
            <a:r>
              <a:rPr lang="en-US" sz="2500" dirty="0">
                <a:latin typeface="Arial"/>
                <a:cs typeface="Arial"/>
              </a:rPr>
              <a:t>Lab</a:t>
            </a:r>
            <a:r>
              <a:rPr lang="en-US" sz="2500" spc="-110" dirty="0">
                <a:latin typeface="Arial"/>
                <a:cs typeface="Arial"/>
              </a:rPr>
              <a:t> </a:t>
            </a:r>
            <a:r>
              <a:rPr lang="en-US" sz="2500" spc="-10" dirty="0">
                <a:latin typeface="Arial"/>
                <a:cs typeface="Arial"/>
              </a:rPr>
              <a:t>exercises</a:t>
            </a:r>
            <a:r>
              <a:rPr lang="en-US" sz="2500" spc="-80" dirty="0">
                <a:latin typeface="Arial"/>
                <a:cs typeface="Arial"/>
              </a:rPr>
              <a:t> </a:t>
            </a:r>
            <a:r>
              <a:rPr lang="en-US" sz="2500" dirty="0">
                <a:latin typeface="Arial"/>
                <a:cs typeface="Arial"/>
              </a:rPr>
              <a:t>will</a:t>
            </a:r>
            <a:r>
              <a:rPr lang="en-US" sz="2500" spc="-95" dirty="0">
                <a:latin typeface="Arial"/>
                <a:cs typeface="Arial"/>
              </a:rPr>
              <a:t> be </a:t>
            </a:r>
            <a:r>
              <a:rPr lang="en-US" sz="2500" dirty="0">
                <a:latin typeface="Arial"/>
                <a:cs typeface="Arial"/>
              </a:rPr>
              <a:t>released</a:t>
            </a:r>
            <a:r>
              <a:rPr lang="en-US" sz="2500" spc="-70" dirty="0">
                <a:latin typeface="Arial"/>
                <a:cs typeface="Arial"/>
              </a:rPr>
              <a:t> </a:t>
            </a:r>
            <a:r>
              <a:rPr lang="en-US" sz="2500" dirty="0">
                <a:latin typeface="Arial"/>
                <a:cs typeface="Arial"/>
              </a:rPr>
              <a:t>on</a:t>
            </a:r>
            <a:r>
              <a:rPr lang="en-US" sz="2500" spc="-130" dirty="0">
                <a:latin typeface="Arial"/>
                <a:cs typeface="Arial"/>
              </a:rPr>
              <a:t> </a:t>
            </a:r>
            <a:r>
              <a:rPr lang="en-US" sz="2500" spc="-10" dirty="0">
                <a:latin typeface="Arial"/>
                <a:cs typeface="Arial"/>
              </a:rPr>
              <a:t>Wednesdays</a:t>
            </a:r>
            <a:endParaRPr sz="2500" dirty="0">
              <a:latin typeface="Arial"/>
              <a:cs typeface="Arial"/>
            </a:endParaRPr>
          </a:p>
          <a:p>
            <a:pPr marL="387985" indent="-375285">
              <a:lnSpc>
                <a:spcPct val="100000"/>
              </a:lnSpc>
              <a:spcBef>
                <a:spcPts val="120"/>
              </a:spcBef>
              <a:buChar char="●"/>
              <a:tabLst>
                <a:tab pos="387985" algn="l"/>
              </a:tabLst>
            </a:pPr>
            <a:r>
              <a:rPr sz="2500" dirty="0">
                <a:latin typeface="Arial"/>
                <a:cs typeface="Arial"/>
              </a:rPr>
              <a:t>Lab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slot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on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the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following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Monday</a:t>
            </a:r>
            <a:r>
              <a:rPr sz="2500" spc="-7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or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Tuesday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will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be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used</a:t>
            </a:r>
            <a:r>
              <a:rPr sz="2500" spc="-7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for</a:t>
            </a:r>
            <a:r>
              <a:rPr sz="2500" spc="-8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evaluation</a:t>
            </a:r>
            <a:endParaRPr sz="2500" dirty="0">
              <a:latin typeface="Arial"/>
              <a:cs typeface="Arial"/>
            </a:endParaRPr>
          </a:p>
          <a:p>
            <a:pPr marL="845185" lvl="1" indent="-344805">
              <a:lnSpc>
                <a:spcPct val="100000"/>
              </a:lnSpc>
              <a:spcBef>
                <a:spcPts val="65"/>
              </a:spcBef>
              <a:buChar char="○"/>
              <a:tabLst>
                <a:tab pos="845185" algn="l"/>
              </a:tabLst>
            </a:pPr>
            <a:r>
              <a:rPr sz="2000" dirty="0">
                <a:latin typeface="Arial"/>
                <a:cs typeface="Arial"/>
              </a:rPr>
              <a:t>Students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also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lab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slot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getting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help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TAs</a:t>
            </a:r>
            <a:endParaRPr lang="en-IN" sz="2000" spc="-25">
              <a:latin typeface="Arial"/>
              <a:cs typeface="Arial"/>
            </a:endParaRPr>
          </a:p>
          <a:p>
            <a:pPr marL="845185" lvl="1" indent="-344805">
              <a:lnSpc>
                <a:spcPts val="1730"/>
              </a:lnSpc>
              <a:buChar char="○"/>
              <a:tabLst>
                <a:tab pos="845185" algn="l"/>
              </a:tabLst>
            </a:pPr>
            <a:r>
              <a:rPr sz="2000" dirty="0">
                <a:latin typeface="Arial"/>
                <a:cs typeface="Arial"/>
              </a:rPr>
              <a:t>One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TA/</a:t>
            </a:r>
            <a:r>
              <a:rPr lang="en-IN" sz="2000" spc="-4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RA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lang="en-IN" sz="2000" spc="-100" dirty="0">
                <a:latin typeface="Arial"/>
                <a:cs typeface="Arial"/>
              </a:rPr>
              <a:t>will be assigned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lang="en-IN" sz="2000" spc="-35" dirty="0">
                <a:latin typeface="Arial"/>
                <a:cs typeface="Arial"/>
              </a:rPr>
              <a:t>3-4 groups, i.e., </a:t>
            </a:r>
            <a:r>
              <a:rPr sz="2000" spc="-35" dirty="0">
                <a:latin typeface="Arial"/>
                <a:cs typeface="Arial"/>
              </a:rPr>
              <a:t>6-</a:t>
            </a:r>
            <a:r>
              <a:rPr sz="2000" dirty="0">
                <a:latin typeface="Arial"/>
                <a:cs typeface="Arial"/>
              </a:rPr>
              <a:t>8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students</a:t>
            </a:r>
            <a:endParaRPr lang="en-IN" sz="2000" spc="-10">
              <a:latin typeface="Arial"/>
              <a:cs typeface="Arial"/>
            </a:endParaRPr>
          </a:p>
          <a:p>
            <a:pPr marL="500380" lvl="1">
              <a:lnSpc>
                <a:spcPts val="1730"/>
              </a:lnSpc>
              <a:tabLst>
                <a:tab pos="845185" algn="l"/>
              </a:tabLst>
            </a:pPr>
            <a:endParaRPr sz="2500">
              <a:latin typeface="Arial"/>
              <a:cs typeface="Arial"/>
            </a:endParaRPr>
          </a:p>
          <a:p>
            <a:pPr marL="387985" indent="-375285">
              <a:lnSpc>
                <a:spcPts val="2210"/>
              </a:lnSpc>
              <a:buChar char="●"/>
              <a:tabLst>
                <a:tab pos="387985" algn="l"/>
              </a:tabLst>
            </a:pPr>
            <a:r>
              <a:rPr sz="2500" dirty="0">
                <a:latin typeface="Arial"/>
                <a:cs typeface="Arial"/>
              </a:rPr>
              <a:t>The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completed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code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needs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be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uploaded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Moodle</a:t>
            </a:r>
            <a:endParaRPr sz="2500" dirty="0">
              <a:latin typeface="Arial"/>
              <a:cs typeface="Arial"/>
            </a:endParaRPr>
          </a:p>
          <a:p>
            <a:pPr marL="845185" lvl="1" indent="-344805">
              <a:lnSpc>
                <a:spcPct val="100000"/>
              </a:lnSpc>
              <a:spcBef>
                <a:spcPts val="150"/>
              </a:spcBef>
              <a:buChar char="○"/>
              <a:tabLst>
                <a:tab pos="845185" algn="l"/>
              </a:tabLst>
            </a:pPr>
            <a:r>
              <a:rPr sz="2000" dirty="0">
                <a:latin typeface="Arial"/>
                <a:cs typeface="Arial"/>
              </a:rPr>
              <a:t>For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BTech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students,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upload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deadline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5.15pm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Mondays</a:t>
            </a:r>
            <a:endParaRPr sz="2000" dirty="0">
              <a:latin typeface="Arial"/>
              <a:cs typeface="Arial"/>
            </a:endParaRPr>
          </a:p>
          <a:p>
            <a:pPr marL="845185" lvl="1" indent="-344805">
              <a:lnSpc>
                <a:spcPct val="100000"/>
              </a:lnSpc>
              <a:buChar char="○"/>
              <a:tabLst>
                <a:tab pos="845185" algn="l"/>
              </a:tabLst>
            </a:pPr>
            <a:r>
              <a:rPr sz="2000" dirty="0">
                <a:latin typeface="Arial"/>
                <a:cs typeface="Arial"/>
              </a:rPr>
              <a:t>For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students,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upload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deadline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5.15pm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Tuesdays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9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5562" y="685800"/>
            <a:ext cx="732023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Evaluation</a:t>
            </a:r>
            <a:r>
              <a:rPr lang="en-IN" spc="-10"/>
              <a:t> Process for each lab</a:t>
            </a:r>
            <a:endParaRPr spc="-10"/>
          </a:p>
        </p:txBody>
      </p:sp>
      <p:sp>
        <p:nvSpPr>
          <p:cNvPr id="3" name="object 3"/>
          <p:cNvSpPr txBox="1"/>
          <p:nvPr/>
        </p:nvSpPr>
        <p:spPr>
          <a:xfrm>
            <a:off x="726999" y="2057400"/>
            <a:ext cx="8768038" cy="2894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1148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3000" spc="-40">
                <a:latin typeface="Arial"/>
                <a:cs typeface="Arial"/>
              </a:rPr>
              <a:t>You</a:t>
            </a:r>
            <a:r>
              <a:rPr sz="3000" spc="-15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will</a:t>
            </a:r>
            <a:r>
              <a:rPr sz="3000" spc="-9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show</a:t>
            </a:r>
            <a:r>
              <a:rPr sz="3000" spc="-8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your</a:t>
            </a:r>
            <a:r>
              <a:rPr sz="3000" spc="-8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work</a:t>
            </a:r>
            <a:r>
              <a:rPr sz="3000" spc="-8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to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the</a:t>
            </a:r>
            <a:r>
              <a:rPr sz="3000" spc="-114">
                <a:latin typeface="Arial"/>
                <a:cs typeface="Arial"/>
              </a:rPr>
              <a:t> </a:t>
            </a:r>
            <a:r>
              <a:rPr sz="3000" spc="-50">
                <a:latin typeface="Arial"/>
                <a:cs typeface="Arial"/>
              </a:rPr>
              <a:t>TA</a:t>
            </a:r>
            <a:r>
              <a:rPr sz="3000" spc="-254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on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your</a:t>
            </a:r>
            <a:r>
              <a:rPr sz="3000" spc="-80">
                <a:latin typeface="Arial"/>
                <a:cs typeface="Arial"/>
              </a:rPr>
              <a:t> </a:t>
            </a:r>
            <a:r>
              <a:rPr sz="3000" spc="-10">
                <a:latin typeface="Arial"/>
                <a:cs typeface="Arial"/>
              </a:rPr>
              <a:t>laptop</a:t>
            </a:r>
            <a:endParaRPr sz="3000">
              <a:latin typeface="Arial"/>
              <a:cs typeface="Arial"/>
            </a:endParaRPr>
          </a:p>
          <a:p>
            <a:pPr marL="469265" indent="-411480">
              <a:lnSpc>
                <a:spcPct val="100000"/>
              </a:lnSpc>
              <a:spcBef>
                <a:spcPts val="20"/>
              </a:spcBef>
              <a:buChar char="●"/>
              <a:tabLst>
                <a:tab pos="469265" algn="l"/>
              </a:tabLst>
            </a:pPr>
            <a:r>
              <a:rPr sz="3000" spc="-45">
                <a:latin typeface="Arial"/>
                <a:cs typeface="Arial"/>
              </a:rPr>
              <a:t>TA</a:t>
            </a:r>
            <a:r>
              <a:rPr sz="3000" spc="-229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will</a:t>
            </a:r>
            <a:r>
              <a:rPr sz="3000" spc="-114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ask</a:t>
            </a:r>
            <a:r>
              <a:rPr sz="3000" spc="-80">
                <a:latin typeface="Arial"/>
                <a:cs typeface="Arial"/>
              </a:rPr>
              <a:t> </a:t>
            </a:r>
            <a:r>
              <a:rPr lang="en-US" sz="3000" spc="-80">
                <a:latin typeface="Arial"/>
                <a:cs typeface="Arial"/>
              </a:rPr>
              <a:t>few </a:t>
            </a:r>
            <a:r>
              <a:rPr sz="3000">
                <a:latin typeface="Arial"/>
                <a:cs typeface="Arial"/>
              </a:rPr>
              <a:t>questions</a:t>
            </a:r>
            <a:r>
              <a:rPr sz="3000" spc="-6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to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test</a:t>
            </a:r>
            <a:r>
              <a:rPr sz="3000" spc="-7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your</a:t>
            </a:r>
            <a:r>
              <a:rPr sz="3000" spc="-90">
                <a:latin typeface="Arial"/>
                <a:cs typeface="Arial"/>
              </a:rPr>
              <a:t> </a:t>
            </a:r>
            <a:r>
              <a:rPr sz="3000" spc="-10">
                <a:latin typeface="Arial"/>
                <a:cs typeface="Arial"/>
              </a:rPr>
              <a:t>understanding</a:t>
            </a:r>
            <a:endParaRPr sz="3000">
              <a:latin typeface="Arial"/>
              <a:cs typeface="Arial"/>
            </a:endParaRPr>
          </a:p>
          <a:p>
            <a:pPr marL="469265" marR="5080" indent="-411480">
              <a:lnSpc>
                <a:spcPct val="100800"/>
              </a:lnSpc>
              <a:spcBef>
                <a:spcPts val="100"/>
              </a:spcBef>
              <a:buChar char="●"/>
              <a:tabLst>
                <a:tab pos="471170" algn="l"/>
              </a:tabLst>
            </a:pPr>
            <a:r>
              <a:rPr sz="3000" spc="-45">
                <a:latin typeface="Arial"/>
                <a:cs typeface="Arial"/>
              </a:rPr>
              <a:t>You</a:t>
            </a:r>
            <a:r>
              <a:rPr sz="3000" spc="-13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are</a:t>
            </a:r>
            <a:r>
              <a:rPr sz="3000" spc="-155">
                <a:latin typeface="Arial"/>
                <a:cs typeface="Arial"/>
              </a:rPr>
              <a:t> </a:t>
            </a:r>
            <a:r>
              <a:rPr sz="3000" spc="-20">
                <a:latin typeface="Arial"/>
                <a:cs typeface="Arial"/>
              </a:rPr>
              <a:t>encouraged</a:t>
            </a:r>
            <a:r>
              <a:rPr sz="3000" spc="-7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to</a:t>
            </a:r>
            <a:r>
              <a:rPr sz="3000" spc="-14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discuss,</a:t>
            </a:r>
            <a:r>
              <a:rPr sz="3000" spc="-10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but</a:t>
            </a:r>
            <a:r>
              <a:rPr sz="3000" spc="-12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prepare</a:t>
            </a:r>
            <a:r>
              <a:rPr sz="3000" spc="-10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your</a:t>
            </a:r>
            <a:r>
              <a:rPr sz="3000" spc="-110">
                <a:latin typeface="Arial"/>
                <a:cs typeface="Arial"/>
              </a:rPr>
              <a:t> </a:t>
            </a:r>
            <a:r>
              <a:rPr sz="3000" spc="-25">
                <a:latin typeface="Arial"/>
                <a:cs typeface="Arial"/>
              </a:rPr>
              <a:t>own</a:t>
            </a:r>
            <a:r>
              <a:rPr lang="en-IN" sz="3000" spc="-25">
                <a:latin typeface="Arial"/>
                <a:cs typeface="Arial"/>
              </a:rPr>
              <a:t> </a:t>
            </a:r>
            <a:r>
              <a:rPr sz="3000" spc="-10">
                <a:latin typeface="Arial"/>
                <a:cs typeface="Arial"/>
              </a:rPr>
              <a:t>solution</a:t>
            </a:r>
            <a:endParaRPr sz="3000">
              <a:latin typeface="Arial"/>
              <a:cs typeface="Arial"/>
            </a:endParaRPr>
          </a:p>
          <a:p>
            <a:pPr marL="471170" indent="-458470">
              <a:lnSpc>
                <a:spcPct val="100000"/>
              </a:lnSpc>
              <a:spcBef>
                <a:spcPts val="670"/>
              </a:spcBef>
              <a:buClr>
                <a:srgbClr val="000000"/>
              </a:buClr>
              <a:buSzPct val="125000"/>
              <a:buFont typeface="Arial"/>
              <a:buChar char="●"/>
              <a:tabLst>
                <a:tab pos="471170" algn="l"/>
              </a:tabLst>
            </a:pPr>
            <a:r>
              <a:rPr sz="3000" b="1">
                <a:solidFill>
                  <a:srgbClr val="FF0000"/>
                </a:solidFill>
                <a:latin typeface="Arial"/>
                <a:cs typeface="Arial"/>
              </a:rPr>
              <a:t>Penalties</a:t>
            </a:r>
            <a:r>
              <a:rPr sz="3000" b="1" spc="-1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3000" b="1" spc="-1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>
                <a:solidFill>
                  <a:srgbClr val="FF0000"/>
                </a:solidFill>
                <a:latin typeface="Arial"/>
                <a:cs typeface="Arial"/>
              </a:rPr>
              <a:t>any</a:t>
            </a:r>
            <a:r>
              <a:rPr sz="3000" b="1" spc="-1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spc="-10">
                <a:solidFill>
                  <a:srgbClr val="FF0000"/>
                </a:solidFill>
                <a:latin typeface="Arial"/>
                <a:cs typeface="Arial"/>
              </a:rPr>
              <a:t>academic</a:t>
            </a:r>
            <a:r>
              <a:rPr sz="3000" b="1" spc="-10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spc="-10">
                <a:solidFill>
                  <a:srgbClr val="FF0000"/>
                </a:solidFill>
                <a:latin typeface="Arial"/>
                <a:cs typeface="Arial"/>
              </a:rPr>
              <a:t>dishonesty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10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45588" y="762000"/>
            <a:ext cx="631698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What</a:t>
            </a:r>
            <a:r>
              <a:rPr spc="-100"/>
              <a:t> </a:t>
            </a:r>
            <a:r>
              <a:t>counts</a:t>
            </a:r>
            <a:r>
              <a:rPr spc="-110"/>
              <a:t> </a:t>
            </a:r>
            <a:r>
              <a:t>as</a:t>
            </a:r>
            <a:r>
              <a:rPr spc="-110"/>
              <a:t> </a:t>
            </a:r>
            <a:r>
              <a:rPr spc="-10"/>
              <a:t>malpractice?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828800"/>
            <a:ext cx="9677400" cy="33053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0845" indent="-398145">
              <a:lnSpc>
                <a:spcPts val="2620"/>
              </a:lnSpc>
              <a:spcBef>
                <a:spcPts val="95"/>
              </a:spcBef>
              <a:buChar char="●"/>
              <a:tabLst>
                <a:tab pos="410845" algn="l"/>
              </a:tabLst>
            </a:pPr>
            <a:r>
              <a:rPr sz="3000">
                <a:latin typeface="Arial"/>
                <a:cs typeface="Arial"/>
              </a:rPr>
              <a:t>Copying</a:t>
            </a:r>
            <a:r>
              <a:rPr sz="3000" spc="-11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code</a:t>
            </a:r>
            <a:r>
              <a:rPr sz="3000" spc="-13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from</a:t>
            </a:r>
            <a:r>
              <a:rPr sz="3000" spc="-10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the</a:t>
            </a:r>
            <a:r>
              <a:rPr sz="3000" spc="-10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web,</a:t>
            </a:r>
            <a:r>
              <a:rPr sz="3000" spc="-11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getting</a:t>
            </a:r>
            <a:r>
              <a:rPr sz="3000" spc="-13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others</a:t>
            </a:r>
            <a:r>
              <a:rPr sz="3000" spc="-114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to</a:t>
            </a:r>
            <a:r>
              <a:rPr sz="3000" spc="-11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solve</a:t>
            </a:r>
            <a:r>
              <a:rPr sz="3000" spc="-105">
                <a:latin typeface="Arial"/>
                <a:cs typeface="Arial"/>
              </a:rPr>
              <a:t> </a:t>
            </a:r>
            <a:r>
              <a:rPr sz="3000" spc="-25" err="1">
                <a:latin typeface="Arial"/>
                <a:cs typeface="Arial"/>
              </a:rPr>
              <a:t>etc</a:t>
            </a:r>
            <a:r>
              <a:rPr lang="en-IN" sz="3000" spc="-25">
                <a:latin typeface="Arial"/>
                <a:cs typeface="Arial"/>
              </a:rPr>
              <a:t>.</a:t>
            </a:r>
          </a:p>
          <a:p>
            <a:pPr marL="12700">
              <a:lnSpc>
                <a:spcPts val="2620"/>
              </a:lnSpc>
              <a:spcBef>
                <a:spcPts val="95"/>
              </a:spcBef>
              <a:tabLst>
                <a:tab pos="410845" algn="l"/>
              </a:tabLst>
            </a:pPr>
            <a:endParaRPr sz="3000">
              <a:latin typeface="Arial"/>
              <a:cs typeface="Arial"/>
            </a:endParaRPr>
          </a:p>
          <a:p>
            <a:pPr marL="410845" indent="-398145">
              <a:lnSpc>
                <a:spcPts val="2620"/>
              </a:lnSpc>
              <a:buChar char="●"/>
              <a:tabLst>
                <a:tab pos="410845" algn="l"/>
              </a:tabLst>
            </a:pPr>
            <a:r>
              <a:rPr sz="3000">
                <a:latin typeface="Arial"/>
                <a:cs typeface="Arial"/>
              </a:rPr>
              <a:t>Sharing</a:t>
            </a:r>
            <a:r>
              <a:rPr sz="3000" spc="-11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your</a:t>
            </a:r>
            <a:r>
              <a:rPr sz="3000" spc="-8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code</a:t>
            </a:r>
            <a:r>
              <a:rPr sz="3000" spc="-11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with</a:t>
            </a:r>
            <a:r>
              <a:rPr sz="3000" spc="-11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your</a:t>
            </a:r>
            <a:r>
              <a:rPr sz="3000" spc="-100">
                <a:latin typeface="Arial"/>
                <a:cs typeface="Arial"/>
              </a:rPr>
              <a:t> </a:t>
            </a:r>
            <a:r>
              <a:rPr sz="3000" spc="-10">
                <a:latin typeface="Arial"/>
                <a:cs typeface="Arial"/>
              </a:rPr>
              <a:t>classmates</a:t>
            </a:r>
            <a:endParaRPr sz="3000">
              <a:latin typeface="Arial"/>
              <a:cs typeface="Arial"/>
            </a:endParaRPr>
          </a:p>
          <a:p>
            <a:pPr marL="868044" lvl="1" indent="-353060">
              <a:lnSpc>
                <a:spcPct val="100000"/>
              </a:lnSpc>
              <a:spcBef>
                <a:spcPts val="10"/>
              </a:spcBef>
              <a:buChar char="○"/>
              <a:tabLst>
                <a:tab pos="868044" algn="l"/>
              </a:tabLst>
            </a:pPr>
            <a:r>
              <a:rPr sz="2400">
                <a:latin typeface="Arial"/>
                <a:cs typeface="Arial"/>
              </a:rPr>
              <a:t>Multiple</a:t>
            </a:r>
            <a:r>
              <a:rPr sz="2400" spc="-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instances</a:t>
            </a:r>
            <a:r>
              <a:rPr sz="2400" spc="-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of</a:t>
            </a:r>
            <a:r>
              <a:rPr sz="2400" spc="-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this</a:t>
            </a:r>
            <a:r>
              <a:rPr sz="2400" spc="-3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in</a:t>
            </a:r>
            <a:r>
              <a:rPr sz="2400" spc="-3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previous</a:t>
            </a:r>
            <a:r>
              <a:rPr sz="2400" spc="-25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years</a:t>
            </a:r>
            <a:endParaRPr sz="2400">
              <a:latin typeface="Arial"/>
              <a:cs typeface="Arial"/>
            </a:endParaRPr>
          </a:p>
          <a:p>
            <a:pPr marL="868044" lvl="1" indent="-353060">
              <a:lnSpc>
                <a:spcPts val="1914"/>
              </a:lnSpc>
              <a:buChar char="○"/>
              <a:tabLst>
                <a:tab pos="868044" algn="l"/>
              </a:tabLst>
            </a:pPr>
            <a:r>
              <a:rPr sz="2400">
                <a:latin typeface="Arial"/>
                <a:cs typeface="Arial"/>
              </a:rPr>
              <a:t>Both</a:t>
            </a:r>
            <a:r>
              <a:rPr sz="2400" spc="-6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parties</a:t>
            </a:r>
            <a:r>
              <a:rPr sz="2400" spc="-4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(source</a:t>
            </a:r>
            <a:r>
              <a:rPr sz="2400" spc="-5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and</a:t>
            </a:r>
            <a:r>
              <a:rPr sz="2400" spc="-6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receiver)</a:t>
            </a:r>
            <a:r>
              <a:rPr sz="2400" spc="-3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get</a:t>
            </a:r>
            <a:r>
              <a:rPr sz="2400" spc="-5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the</a:t>
            </a:r>
            <a:r>
              <a:rPr sz="2400" spc="-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same</a:t>
            </a:r>
            <a:r>
              <a:rPr sz="2400" spc="-40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penalty</a:t>
            </a:r>
            <a:endParaRPr lang="en-IN" sz="2400" spc="-10">
              <a:latin typeface="Arial"/>
              <a:cs typeface="Arial"/>
            </a:endParaRPr>
          </a:p>
          <a:p>
            <a:pPr marL="514984" lvl="1">
              <a:lnSpc>
                <a:spcPts val="1914"/>
              </a:lnSpc>
              <a:tabLst>
                <a:tab pos="868044" algn="l"/>
              </a:tabLst>
            </a:pPr>
            <a:endParaRPr sz="2400">
              <a:latin typeface="Arial"/>
              <a:cs typeface="Arial"/>
            </a:endParaRPr>
          </a:p>
          <a:p>
            <a:pPr marL="410845" indent="-398145">
              <a:lnSpc>
                <a:spcPts val="2610"/>
              </a:lnSpc>
              <a:buChar char="●"/>
              <a:tabLst>
                <a:tab pos="410845" algn="l"/>
              </a:tabLst>
            </a:pPr>
            <a:r>
              <a:rPr sz="3000">
                <a:latin typeface="Arial"/>
                <a:cs typeface="Arial"/>
              </a:rPr>
              <a:t>Sharing</a:t>
            </a:r>
            <a:r>
              <a:rPr sz="3000" spc="-10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your</a:t>
            </a:r>
            <a:r>
              <a:rPr sz="3000" spc="-7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code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on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a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public</a:t>
            </a:r>
            <a:r>
              <a:rPr sz="3000" spc="-11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Github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repo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or</a:t>
            </a:r>
            <a:r>
              <a:rPr sz="3000" spc="-95">
                <a:latin typeface="Arial"/>
                <a:cs typeface="Arial"/>
              </a:rPr>
              <a:t> </a:t>
            </a:r>
            <a:r>
              <a:rPr sz="3000" spc="-10">
                <a:latin typeface="Arial"/>
                <a:cs typeface="Arial"/>
              </a:rPr>
              <a:t>webpage</a:t>
            </a:r>
            <a:endParaRPr sz="3000">
              <a:latin typeface="Arial"/>
              <a:cs typeface="Arial"/>
            </a:endParaRPr>
          </a:p>
          <a:p>
            <a:pPr marL="868044" lvl="1" indent="-353060">
              <a:lnSpc>
                <a:spcPts val="1895"/>
              </a:lnSpc>
              <a:buChar char="○"/>
              <a:tabLst>
                <a:tab pos="868044" algn="l"/>
              </a:tabLst>
            </a:pPr>
            <a:r>
              <a:rPr sz="2400">
                <a:latin typeface="Arial"/>
                <a:cs typeface="Arial"/>
              </a:rPr>
              <a:t>If</a:t>
            </a:r>
            <a:r>
              <a:rPr sz="2400" spc="-4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you</a:t>
            </a:r>
            <a:r>
              <a:rPr sz="2400" spc="-3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want</a:t>
            </a:r>
            <a:r>
              <a:rPr sz="2400" spc="-1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to</a:t>
            </a:r>
            <a:r>
              <a:rPr sz="2400" spc="-5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showcase</a:t>
            </a:r>
            <a:r>
              <a:rPr sz="2400" spc="-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your</a:t>
            </a:r>
            <a:r>
              <a:rPr sz="2400" spc="-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skills,</a:t>
            </a:r>
            <a:r>
              <a:rPr sz="2400" spc="-9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pick</a:t>
            </a:r>
            <a:r>
              <a:rPr sz="2400" spc="-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something</a:t>
            </a:r>
            <a:r>
              <a:rPr sz="2400" spc="-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other</a:t>
            </a:r>
            <a:r>
              <a:rPr sz="2400" spc="-2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than</a:t>
            </a:r>
            <a:r>
              <a:rPr sz="2400" spc="-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assigned</a:t>
            </a:r>
            <a:r>
              <a:rPr sz="2400" spc="-50">
                <a:latin typeface="Arial"/>
                <a:cs typeface="Arial"/>
              </a:rPr>
              <a:t> </a:t>
            </a:r>
            <a:r>
              <a:rPr sz="2400" spc="-25">
                <a:latin typeface="Arial"/>
                <a:cs typeface="Arial"/>
              </a:rPr>
              <a:t>lab</a:t>
            </a:r>
            <a:r>
              <a:rPr lang="en-IN" sz="2400" spc="-2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exercise</a:t>
            </a:r>
            <a:r>
              <a:rPr sz="2400" spc="-4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solutions</a:t>
            </a:r>
            <a:r>
              <a:rPr sz="2400" spc="-4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to</a:t>
            </a:r>
            <a:r>
              <a:rPr sz="2400" spc="-30">
                <a:latin typeface="Arial"/>
                <a:cs typeface="Arial"/>
              </a:rPr>
              <a:t> </a:t>
            </a:r>
            <a:r>
              <a:rPr sz="2400" spc="-20">
                <a:latin typeface="Arial"/>
                <a:cs typeface="Arial"/>
              </a:rPr>
              <a:t>share</a:t>
            </a:r>
            <a:endParaRPr lang="en-IN" sz="2400" spc="-20">
              <a:latin typeface="Arial"/>
              <a:cs typeface="Arial"/>
            </a:endParaRPr>
          </a:p>
          <a:p>
            <a:pPr marL="868044" lvl="1" indent="-353060">
              <a:lnSpc>
                <a:spcPts val="1895"/>
              </a:lnSpc>
              <a:buChar char="○"/>
              <a:tabLst>
                <a:tab pos="868044" algn="l"/>
              </a:tabLst>
            </a:pPr>
            <a:endParaRPr sz="2400">
              <a:latin typeface="Arial"/>
              <a:cs typeface="Arial"/>
            </a:endParaRPr>
          </a:p>
          <a:p>
            <a:pPr marL="408305" indent="-395605">
              <a:lnSpc>
                <a:spcPts val="2800"/>
              </a:lnSpc>
              <a:buChar char="●"/>
              <a:tabLst>
                <a:tab pos="408305" algn="l"/>
              </a:tabLst>
            </a:pPr>
            <a:r>
              <a:rPr sz="3000">
                <a:latin typeface="Arial"/>
                <a:cs typeface="Arial"/>
              </a:rPr>
              <a:t>Alternative</a:t>
            </a:r>
            <a:r>
              <a:rPr sz="3000" spc="-7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copying</a:t>
            </a:r>
            <a:r>
              <a:rPr sz="3000" spc="-5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methods</a:t>
            </a:r>
            <a:r>
              <a:rPr sz="3000" spc="-90">
                <a:latin typeface="Arial"/>
                <a:cs typeface="Arial"/>
              </a:rPr>
              <a:t> </a:t>
            </a:r>
            <a:r>
              <a:rPr sz="3000" spc="-25">
                <a:latin typeface="Arial"/>
                <a:cs typeface="Arial"/>
              </a:rPr>
              <a:t>….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11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3000" y="685800"/>
            <a:ext cx="631698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Website</a:t>
            </a:r>
            <a:r>
              <a:rPr spc="-150"/>
              <a:t> </a:t>
            </a:r>
            <a:r>
              <a:t>and</a:t>
            </a:r>
            <a:r>
              <a:rPr spc="-160"/>
              <a:t> </a:t>
            </a:r>
            <a:r>
              <a:rPr spc="-10"/>
              <a:t>Moodle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4296" y="2055844"/>
            <a:ext cx="8577635" cy="1817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3070" marR="5080" indent="-421005">
              <a:lnSpc>
                <a:spcPct val="100000"/>
              </a:lnSpc>
              <a:spcBef>
                <a:spcPts val="95"/>
              </a:spcBef>
              <a:buChar char="●"/>
              <a:tabLst>
                <a:tab pos="433070" algn="l"/>
              </a:tabLst>
            </a:pPr>
            <a:r>
              <a:rPr sz="3000">
                <a:latin typeface="Arial"/>
                <a:cs typeface="Arial"/>
              </a:rPr>
              <a:t>Course</a:t>
            </a:r>
            <a:r>
              <a:rPr sz="3000" spc="-6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Moodle</a:t>
            </a:r>
            <a:r>
              <a:rPr sz="3000" spc="-4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will</a:t>
            </a:r>
            <a:r>
              <a:rPr sz="3000" spc="-7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be</a:t>
            </a:r>
            <a:r>
              <a:rPr sz="3000" spc="-4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used</a:t>
            </a:r>
            <a:r>
              <a:rPr sz="3000" spc="-4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for</a:t>
            </a:r>
            <a:r>
              <a:rPr sz="3000" spc="-25">
                <a:latin typeface="Arial"/>
                <a:cs typeface="Arial"/>
              </a:rPr>
              <a:t> </a:t>
            </a:r>
            <a:r>
              <a:rPr sz="3000" spc="-10">
                <a:latin typeface="Arial"/>
                <a:cs typeface="Arial"/>
              </a:rPr>
              <a:t>announcements, </a:t>
            </a:r>
            <a:r>
              <a:rPr sz="3000">
                <a:latin typeface="Arial"/>
                <a:cs typeface="Arial"/>
              </a:rPr>
              <a:t>assignments,</a:t>
            </a:r>
            <a:r>
              <a:rPr sz="3000" spc="-160">
                <a:latin typeface="Arial"/>
                <a:cs typeface="Arial"/>
              </a:rPr>
              <a:t> </a:t>
            </a:r>
            <a:r>
              <a:rPr sz="3000" spc="-10">
                <a:latin typeface="Arial"/>
                <a:cs typeface="Arial"/>
              </a:rPr>
              <a:t>grades</a:t>
            </a:r>
            <a:endParaRPr sz="3000">
              <a:latin typeface="Arial"/>
              <a:cs typeface="Arial"/>
            </a:endParaRPr>
          </a:p>
          <a:p>
            <a:pPr marL="433705" indent="-421005">
              <a:lnSpc>
                <a:spcPct val="100000"/>
              </a:lnSpc>
              <a:buChar char="●"/>
              <a:tabLst>
                <a:tab pos="433705" algn="l"/>
              </a:tabLst>
            </a:pPr>
            <a:r>
              <a:rPr sz="3000">
                <a:latin typeface="Arial"/>
                <a:cs typeface="Arial"/>
              </a:rPr>
              <a:t>Always</a:t>
            </a:r>
            <a:r>
              <a:rPr sz="3000" spc="-8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check</a:t>
            </a:r>
            <a:r>
              <a:rPr sz="3000" spc="-6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your</a:t>
            </a:r>
            <a:r>
              <a:rPr sz="3000" spc="-45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marks</a:t>
            </a:r>
            <a:r>
              <a:rPr sz="3000" spc="-10">
                <a:latin typeface="Arial"/>
                <a:cs typeface="Arial"/>
              </a:rPr>
              <a:t> </a:t>
            </a:r>
            <a:r>
              <a:rPr sz="3000">
                <a:latin typeface="Arial"/>
                <a:cs typeface="Arial"/>
              </a:rPr>
              <a:t>in</a:t>
            </a:r>
            <a:r>
              <a:rPr sz="3000" spc="-75">
                <a:latin typeface="Arial"/>
                <a:cs typeface="Arial"/>
              </a:rPr>
              <a:t> </a:t>
            </a:r>
            <a:r>
              <a:rPr sz="3000" spc="-10">
                <a:latin typeface="Arial"/>
                <a:cs typeface="Arial"/>
              </a:rPr>
              <a:t>Moodle</a:t>
            </a:r>
            <a:endParaRPr sz="3000">
              <a:latin typeface="Arial"/>
              <a:cs typeface="Arial"/>
            </a:endParaRPr>
          </a:p>
          <a:p>
            <a:pPr marR="437515" algn="ctr">
              <a:lnSpc>
                <a:spcPct val="100000"/>
              </a:lnSpc>
              <a:spcBef>
                <a:spcPts val="420"/>
              </a:spcBef>
            </a:pPr>
            <a:r>
              <a:rPr sz="2400" b="1">
                <a:latin typeface="Arial"/>
                <a:cs typeface="Arial"/>
              </a:rPr>
              <a:t>Report</a:t>
            </a:r>
            <a:r>
              <a:rPr sz="2400" b="1" spc="-10">
                <a:latin typeface="Arial"/>
                <a:cs typeface="Arial"/>
              </a:rPr>
              <a:t> </a:t>
            </a:r>
            <a:r>
              <a:rPr sz="2400" b="1">
                <a:latin typeface="Arial"/>
                <a:cs typeface="Arial"/>
              </a:rPr>
              <a:t>your</a:t>
            </a:r>
            <a:r>
              <a:rPr sz="2400" b="1" spc="-20">
                <a:latin typeface="Arial"/>
                <a:cs typeface="Arial"/>
              </a:rPr>
              <a:t> </a:t>
            </a:r>
            <a:r>
              <a:rPr sz="2400" b="1">
                <a:latin typeface="Arial"/>
                <a:cs typeface="Arial"/>
              </a:rPr>
              <a:t>TA/</a:t>
            </a:r>
            <a:r>
              <a:rPr sz="2400" b="1" spc="-30">
                <a:latin typeface="Arial"/>
                <a:cs typeface="Arial"/>
              </a:rPr>
              <a:t> </a:t>
            </a:r>
            <a:r>
              <a:rPr sz="2400" b="1">
                <a:latin typeface="Arial"/>
                <a:cs typeface="Arial"/>
              </a:rPr>
              <a:t>RA</a:t>
            </a:r>
            <a:r>
              <a:rPr sz="2400" b="1" spc="-45">
                <a:latin typeface="Arial"/>
                <a:cs typeface="Arial"/>
              </a:rPr>
              <a:t> </a:t>
            </a:r>
            <a:r>
              <a:rPr sz="2400" b="1">
                <a:latin typeface="Arial"/>
                <a:cs typeface="Arial"/>
              </a:rPr>
              <a:t>if</a:t>
            </a:r>
            <a:r>
              <a:rPr sz="2400" b="1" spc="-25">
                <a:latin typeface="Arial"/>
                <a:cs typeface="Arial"/>
              </a:rPr>
              <a:t> </a:t>
            </a:r>
            <a:r>
              <a:rPr sz="2400" b="1">
                <a:latin typeface="Arial"/>
                <a:cs typeface="Arial"/>
              </a:rPr>
              <a:t>your</a:t>
            </a:r>
            <a:r>
              <a:rPr sz="2400" b="1" spc="-20">
                <a:latin typeface="Arial"/>
                <a:cs typeface="Arial"/>
              </a:rPr>
              <a:t> </a:t>
            </a:r>
            <a:r>
              <a:rPr sz="2400" b="1">
                <a:latin typeface="Arial"/>
                <a:cs typeface="Arial"/>
              </a:rPr>
              <a:t>marks</a:t>
            </a:r>
            <a:r>
              <a:rPr sz="2400" b="1" spc="-15">
                <a:latin typeface="Arial"/>
                <a:cs typeface="Arial"/>
              </a:rPr>
              <a:t> </a:t>
            </a:r>
            <a:r>
              <a:rPr sz="2400" b="1">
                <a:latin typeface="Arial"/>
                <a:cs typeface="Arial"/>
              </a:rPr>
              <a:t>are</a:t>
            </a:r>
            <a:r>
              <a:rPr sz="2400" b="1" spc="-25">
                <a:latin typeface="Arial"/>
                <a:cs typeface="Arial"/>
              </a:rPr>
              <a:t> </a:t>
            </a:r>
            <a:r>
              <a:rPr sz="2400" b="1" spc="-10">
                <a:latin typeface="Arial"/>
                <a:cs typeface="Arial"/>
              </a:rPr>
              <a:t>missing.</a:t>
            </a:r>
            <a:endParaRPr sz="2400" b="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12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Reference</a:t>
            </a:r>
            <a:r>
              <a:rPr spc="-140"/>
              <a:t> </a:t>
            </a:r>
            <a:r>
              <a:rPr spc="-20"/>
              <a:t>Texts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1177" y="2639112"/>
            <a:ext cx="7834630" cy="19685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23545" marR="497840" indent="-411480">
              <a:lnSpc>
                <a:spcPct val="100800"/>
              </a:lnSpc>
              <a:spcBef>
                <a:spcPts val="75"/>
              </a:spcBef>
              <a:buChar char="●"/>
              <a:tabLst>
                <a:tab pos="425450" algn="l"/>
              </a:tabLst>
            </a:pPr>
            <a:r>
              <a:rPr sz="2400">
                <a:latin typeface="Arial"/>
                <a:cs typeface="Arial"/>
              </a:rPr>
              <a:t>The</a:t>
            </a:r>
            <a:r>
              <a:rPr sz="2400" spc="-13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8051</a:t>
            </a:r>
            <a:r>
              <a:rPr sz="2400" spc="-125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Microcontroller</a:t>
            </a:r>
            <a:r>
              <a:rPr sz="2400" spc="-9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and</a:t>
            </a:r>
            <a:r>
              <a:rPr sz="2400" spc="-125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Embedded</a:t>
            </a:r>
            <a:r>
              <a:rPr sz="2400" spc="-10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Systems</a:t>
            </a:r>
            <a:r>
              <a:rPr sz="2400" spc="-135">
                <a:latin typeface="Arial"/>
                <a:cs typeface="Arial"/>
              </a:rPr>
              <a:t> </a:t>
            </a:r>
            <a:r>
              <a:rPr sz="2400" spc="-50">
                <a:latin typeface="Arial"/>
                <a:cs typeface="Arial"/>
              </a:rPr>
              <a:t>- 	</a:t>
            </a:r>
            <a:r>
              <a:rPr sz="2400" spc="-30">
                <a:latin typeface="Arial"/>
                <a:cs typeface="Arial"/>
              </a:rPr>
              <a:t>Using</a:t>
            </a:r>
            <a:r>
              <a:rPr sz="2400" spc="-1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Assembly</a:t>
            </a:r>
            <a:r>
              <a:rPr sz="2400" spc="-15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and</a:t>
            </a:r>
            <a:r>
              <a:rPr sz="2400" spc="-11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C,</a:t>
            </a:r>
            <a:r>
              <a:rPr sz="2400" spc="-11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Second</a:t>
            </a:r>
            <a:r>
              <a:rPr sz="2400" spc="-85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edition</a:t>
            </a:r>
            <a:endParaRPr sz="2400">
              <a:latin typeface="Arial"/>
              <a:cs typeface="Arial"/>
            </a:endParaRPr>
          </a:p>
          <a:p>
            <a:pPr marL="883285" lvl="1" indent="-367665">
              <a:lnSpc>
                <a:spcPct val="100000"/>
              </a:lnSpc>
              <a:spcBef>
                <a:spcPts val="130"/>
              </a:spcBef>
              <a:buChar char="○"/>
              <a:tabLst>
                <a:tab pos="883285" algn="l"/>
              </a:tabLst>
            </a:pPr>
            <a:r>
              <a:rPr sz="1800" spc="-25">
                <a:latin typeface="Arial"/>
                <a:cs typeface="Arial"/>
              </a:rPr>
              <a:t>Muhammad</a:t>
            </a:r>
            <a:r>
              <a:rPr sz="1800" spc="-10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Ali</a:t>
            </a:r>
            <a:r>
              <a:rPr sz="1800" spc="-7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Mazidi,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Janice</a:t>
            </a:r>
            <a:r>
              <a:rPr sz="1800" spc="-5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Gillispie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Mazidi,</a:t>
            </a:r>
            <a:r>
              <a:rPr sz="1800" spc="-4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Rolin</a:t>
            </a:r>
            <a:r>
              <a:rPr sz="1800" spc="-4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D.</a:t>
            </a:r>
            <a:r>
              <a:rPr sz="1800" spc="-40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McKinlay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"/>
              <a:buChar char="○"/>
            </a:pPr>
            <a:endParaRPr sz="1800">
              <a:latin typeface="Arial"/>
              <a:cs typeface="Arial"/>
            </a:endParaRPr>
          </a:p>
          <a:p>
            <a:pPr marL="423545" indent="-410845">
              <a:lnSpc>
                <a:spcPct val="100000"/>
              </a:lnSpc>
              <a:buChar char="●"/>
              <a:tabLst>
                <a:tab pos="423545" algn="l"/>
              </a:tabLst>
            </a:pPr>
            <a:r>
              <a:rPr sz="2400">
                <a:latin typeface="Arial"/>
                <a:cs typeface="Arial"/>
              </a:rPr>
              <a:t>The</a:t>
            </a:r>
            <a:r>
              <a:rPr sz="2400" spc="-9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8051</a:t>
            </a:r>
            <a:r>
              <a:rPr sz="2400" spc="-75">
                <a:latin typeface="Arial"/>
                <a:cs typeface="Arial"/>
              </a:rPr>
              <a:t> </a:t>
            </a:r>
            <a:r>
              <a:rPr sz="2400" spc="-30">
                <a:latin typeface="Arial"/>
                <a:cs typeface="Arial"/>
              </a:rPr>
              <a:t>Microcontroller,</a:t>
            </a:r>
            <a:r>
              <a:rPr sz="2400" spc="-10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Third</a:t>
            </a:r>
            <a:r>
              <a:rPr sz="2400" spc="-70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Edition</a:t>
            </a:r>
            <a:endParaRPr sz="2400">
              <a:latin typeface="Arial"/>
              <a:cs typeface="Arial"/>
            </a:endParaRPr>
          </a:p>
          <a:p>
            <a:pPr marL="883285" lvl="1" indent="-367665">
              <a:lnSpc>
                <a:spcPct val="100000"/>
              </a:lnSpc>
              <a:spcBef>
                <a:spcPts val="95"/>
              </a:spcBef>
              <a:buChar char="○"/>
              <a:tabLst>
                <a:tab pos="883285" algn="l"/>
              </a:tabLst>
            </a:pPr>
            <a:r>
              <a:rPr sz="1800">
                <a:latin typeface="Arial"/>
                <a:cs typeface="Arial"/>
              </a:rPr>
              <a:t>Kenneth</a:t>
            </a:r>
            <a:r>
              <a:rPr sz="1800" spc="-7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J.</a:t>
            </a:r>
            <a:r>
              <a:rPr sz="1800" spc="-125">
                <a:latin typeface="Arial"/>
                <a:cs typeface="Arial"/>
              </a:rPr>
              <a:t> </a:t>
            </a:r>
            <a:r>
              <a:rPr sz="1800" spc="-20">
                <a:latin typeface="Arial"/>
                <a:cs typeface="Arial"/>
              </a:rPr>
              <a:t>Ayala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1250956"/>
            <a:ext cx="457200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Lab</a:t>
            </a:r>
            <a:r>
              <a:rPr spc="-85"/>
              <a:t> </a:t>
            </a:r>
            <a:r>
              <a:t>kit</a:t>
            </a:r>
            <a:r>
              <a:rPr spc="-40"/>
              <a:t> </a:t>
            </a:r>
            <a:r>
              <a:t>and</a:t>
            </a:r>
            <a:r>
              <a:rPr spc="-70"/>
              <a:t> </a:t>
            </a:r>
            <a:r>
              <a:rPr spc="-1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3062178"/>
            <a:ext cx="8990081" cy="411958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69265" indent="-365760">
              <a:lnSpc>
                <a:spcPct val="100000"/>
              </a:lnSpc>
              <a:spcBef>
                <a:spcPts val="400"/>
              </a:spcBef>
              <a:buChar char="●"/>
              <a:tabLst>
                <a:tab pos="469265" algn="l"/>
              </a:tabLst>
            </a:pPr>
            <a:r>
              <a:rPr sz="2200">
                <a:latin typeface="Arial"/>
                <a:cs typeface="Arial"/>
              </a:rPr>
              <a:t>Every</a:t>
            </a:r>
            <a:r>
              <a:rPr sz="2200" spc="-5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student</a:t>
            </a:r>
            <a:r>
              <a:rPr sz="2200" spc="-4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will receive</a:t>
            </a:r>
            <a:r>
              <a:rPr sz="2200" spc="-6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a</a:t>
            </a:r>
            <a:r>
              <a:rPr sz="2200" spc="-6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lab</a:t>
            </a:r>
            <a:r>
              <a:rPr sz="2200" spc="-40">
                <a:latin typeface="Arial"/>
                <a:cs typeface="Arial"/>
              </a:rPr>
              <a:t> </a:t>
            </a:r>
            <a:r>
              <a:rPr sz="2200" spc="-25">
                <a:latin typeface="Arial"/>
                <a:cs typeface="Arial"/>
              </a:rPr>
              <a:t>kit</a:t>
            </a:r>
            <a:endParaRPr sz="2200">
              <a:latin typeface="Arial"/>
              <a:cs typeface="Arial"/>
            </a:endParaRPr>
          </a:p>
          <a:p>
            <a:pPr marL="926465" lvl="1" indent="-365760">
              <a:lnSpc>
                <a:spcPct val="100000"/>
              </a:lnSpc>
              <a:spcBef>
                <a:spcPts val="300"/>
              </a:spcBef>
              <a:buChar char="○"/>
              <a:tabLst>
                <a:tab pos="926465" algn="l"/>
              </a:tabLst>
            </a:pPr>
            <a:r>
              <a:rPr sz="2200">
                <a:latin typeface="Arial"/>
                <a:cs typeface="Arial"/>
              </a:rPr>
              <a:t>A</a:t>
            </a:r>
            <a:r>
              <a:rPr sz="2200" spc="-135">
                <a:latin typeface="Arial"/>
                <a:cs typeface="Arial"/>
              </a:rPr>
              <a:t> </a:t>
            </a:r>
            <a:r>
              <a:rPr sz="2200" spc="-25">
                <a:latin typeface="Arial"/>
                <a:cs typeface="Arial"/>
              </a:rPr>
              <a:t>Pt-</a:t>
            </a:r>
            <a:r>
              <a:rPr sz="2200">
                <a:latin typeface="Arial"/>
                <a:cs typeface="Arial"/>
              </a:rPr>
              <a:t>51</a:t>
            </a:r>
            <a:r>
              <a:rPr sz="2200" spc="-6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board,</a:t>
            </a:r>
            <a:r>
              <a:rPr sz="2200" spc="-1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LCD,</a:t>
            </a:r>
            <a:r>
              <a:rPr sz="2200" spc="-1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a</a:t>
            </a:r>
            <a:r>
              <a:rPr sz="2200" spc="-5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keypad,</a:t>
            </a:r>
            <a:r>
              <a:rPr sz="2200" spc="2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a</a:t>
            </a:r>
            <a:r>
              <a:rPr sz="2200" spc="-5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USB</a:t>
            </a:r>
            <a:r>
              <a:rPr sz="2200" spc="-10">
                <a:latin typeface="Arial"/>
                <a:cs typeface="Arial"/>
              </a:rPr>
              <a:t> cable</a:t>
            </a:r>
            <a:endParaRPr sz="2200">
              <a:latin typeface="Arial"/>
              <a:cs typeface="Arial"/>
            </a:endParaRPr>
          </a:p>
          <a:p>
            <a:pPr marL="470534" indent="-368300">
              <a:lnSpc>
                <a:spcPct val="100000"/>
              </a:lnSpc>
              <a:spcBef>
                <a:spcPts val="105"/>
              </a:spcBef>
              <a:buChar char="●"/>
              <a:tabLst>
                <a:tab pos="470534" algn="l"/>
              </a:tabLst>
            </a:pPr>
            <a:r>
              <a:rPr sz="2200">
                <a:latin typeface="Arial"/>
                <a:cs typeface="Arial"/>
              </a:rPr>
              <a:t>Install</a:t>
            </a:r>
            <a:r>
              <a:rPr sz="2200" spc="-6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the</a:t>
            </a:r>
            <a:r>
              <a:rPr sz="2200" spc="-7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software</a:t>
            </a:r>
            <a:r>
              <a:rPr sz="2200" spc="-1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(Keil</a:t>
            </a:r>
            <a:r>
              <a:rPr sz="2200" spc="-4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and</a:t>
            </a:r>
            <a:r>
              <a:rPr sz="2200" spc="-5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Flip)</a:t>
            </a:r>
            <a:r>
              <a:rPr sz="2200" spc="-5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on</a:t>
            </a:r>
            <a:r>
              <a:rPr sz="2200" spc="-7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your</a:t>
            </a:r>
            <a:r>
              <a:rPr sz="2200" spc="-4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personal</a:t>
            </a:r>
            <a:r>
              <a:rPr sz="2200" spc="-4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laptops</a:t>
            </a:r>
            <a:r>
              <a:rPr sz="2200" spc="-4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and</a:t>
            </a:r>
            <a:r>
              <a:rPr sz="2200" spc="-5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make</a:t>
            </a:r>
            <a:r>
              <a:rPr sz="2200" spc="-4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sure</a:t>
            </a:r>
            <a:r>
              <a:rPr sz="2200" spc="-70">
                <a:latin typeface="Arial"/>
                <a:cs typeface="Arial"/>
              </a:rPr>
              <a:t> </a:t>
            </a:r>
            <a:r>
              <a:rPr sz="2200" spc="-25">
                <a:latin typeface="Arial"/>
                <a:cs typeface="Arial"/>
              </a:rPr>
              <a:t>the</a:t>
            </a:r>
            <a:r>
              <a:rPr lang="en-US" sz="2200" spc="-2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kit</a:t>
            </a:r>
            <a:r>
              <a:rPr sz="2200" spc="-5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is</a:t>
            </a:r>
            <a:r>
              <a:rPr sz="2200" spc="-2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working correctly</a:t>
            </a:r>
            <a:r>
              <a:rPr sz="2200" spc="-2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(see</a:t>
            </a:r>
            <a:r>
              <a:rPr sz="2200" spc="-3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the</a:t>
            </a:r>
            <a:r>
              <a:rPr sz="2200" spc="-30">
                <a:latin typeface="Arial"/>
                <a:cs typeface="Arial"/>
              </a:rPr>
              <a:t> </a:t>
            </a:r>
            <a:r>
              <a:rPr sz="2200" spc="-25">
                <a:latin typeface="Arial"/>
                <a:cs typeface="Arial"/>
              </a:rPr>
              <a:t>self-</a:t>
            </a:r>
            <a:r>
              <a:rPr sz="2200">
                <a:latin typeface="Arial"/>
                <a:cs typeface="Arial"/>
              </a:rPr>
              <a:t>test</a:t>
            </a:r>
            <a:r>
              <a:rPr sz="2200" spc="-15">
                <a:latin typeface="Arial"/>
                <a:cs typeface="Arial"/>
              </a:rPr>
              <a:t> </a:t>
            </a:r>
            <a:r>
              <a:rPr sz="2200" spc="-10">
                <a:latin typeface="Arial"/>
                <a:cs typeface="Arial"/>
              </a:rPr>
              <a:t>procedure)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200">
              <a:latin typeface="Arial"/>
              <a:cs typeface="Arial"/>
            </a:endParaRPr>
          </a:p>
          <a:p>
            <a:pPr marL="12700" marR="42545">
              <a:lnSpc>
                <a:spcPct val="114999"/>
              </a:lnSpc>
            </a:pP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Note:</a:t>
            </a:r>
            <a:r>
              <a:rPr sz="2200" spc="-10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The</a:t>
            </a:r>
            <a:r>
              <a:rPr sz="2200" spc="-7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development</a:t>
            </a:r>
            <a:r>
              <a:rPr sz="2200" spc="-3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board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 spc="-25">
                <a:solidFill>
                  <a:srgbClr val="4985E8"/>
                </a:solidFill>
                <a:latin typeface="Arial"/>
                <a:cs typeface="Arial"/>
              </a:rPr>
              <a:t>Pt-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51</a:t>
            </a:r>
            <a:r>
              <a:rPr sz="2200" spc="-6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has</a:t>
            </a:r>
            <a:r>
              <a:rPr sz="2200" spc="-7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been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developed,</a:t>
            </a:r>
            <a:r>
              <a:rPr sz="2200" spc="-3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soldered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and</a:t>
            </a:r>
            <a:r>
              <a:rPr sz="2200" spc="-4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tested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 spc="-25">
                <a:solidFill>
                  <a:srgbClr val="4985E8"/>
                </a:solidFill>
                <a:latin typeface="Arial"/>
                <a:cs typeface="Arial"/>
              </a:rPr>
              <a:t>in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WEL.</a:t>
            </a:r>
            <a:r>
              <a:rPr sz="2200" spc="-9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We</a:t>
            </a:r>
            <a:r>
              <a:rPr sz="2200" spc="-2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appreciate</a:t>
            </a:r>
            <a:r>
              <a:rPr sz="2200" spc="-2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the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entire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WEL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Team's</a:t>
            </a:r>
            <a:r>
              <a:rPr sz="2200" spc="-5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contribution</a:t>
            </a:r>
            <a:r>
              <a:rPr sz="2200" spc="-1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in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the</a:t>
            </a:r>
            <a:r>
              <a:rPr sz="2200" spc="-2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development of</a:t>
            </a:r>
            <a:r>
              <a:rPr sz="2200" spc="-3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 spc="-25">
                <a:solidFill>
                  <a:srgbClr val="4985E8"/>
                </a:solidFill>
                <a:latin typeface="Arial"/>
                <a:cs typeface="Arial"/>
              </a:rPr>
              <a:t>in-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house</a:t>
            </a:r>
            <a:r>
              <a:rPr sz="2200" spc="-3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microcontroller</a:t>
            </a:r>
            <a:r>
              <a:rPr sz="2200" spc="-2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boards</a:t>
            </a:r>
            <a:r>
              <a:rPr sz="2200" spc="-2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and</a:t>
            </a:r>
            <a:r>
              <a:rPr sz="2200" spc="-3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other</a:t>
            </a:r>
            <a:r>
              <a:rPr sz="2200" spc="-2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valuable</a:t>
            </a:r>
            <a:r>
              <a:rPr sz="2200" spc="-1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resources</a:t>
            </a:r>
            <a:r>
              <a:rPr sz="2200" spc="-4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for</a:t>
            </a:r>
            <a:r>
              <a:rPr sz="2200" spc="-45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985E8"/>
                </a:solidFill>
                <a:latin typeface="Arial"/>
                <a:cs typeface="Arial"/>
              </a:rPr>
              <a:t>lab</a:t>
            </a:r>
            <a:r>
              <a:rPr sz="2200" spc="-30">
                <a:solidFill>
                  <a:srgbClr val="4985E8"/>
                </a:solidFill>
                <a:latin typeface="Arial"/>
                <a:cs typeface="Arial"/>
              </a:rPr>
              <a:t> </a:t>
            </a:r>
            <a:r>
              <a:rPr sz="2200" spc="-10">
                <a:solidFill>
                  <a:srgbClr val="4985E8"/>
                </a:solidFill>
                <a:latin typeface="Arial"/>
                <a:cs typeface="Arial"/>
              </a:rPr>
              <a:t>courses.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b="1">
                <a:latin typeface="Arial"/>
                <a:cs typeface="Arial"/>
              </a:rPr>
              <a:t>So</a:t>
            </a:r>
            <a:r>
              <a:rPr sz="2200" b="1" spc="-90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please</a:t>
            </a:r>
            <a:r>
              <a:rPr sz="2200" b="1" spc="-65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respect</a:t>
            </a:r>
            <a:r>
              <a:rPr sz="2200" b="1" spc="-60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their</a:t>
            </a:r>
            <a:r>
              <a:rPr sz="2200" b="1" spc="-50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efforts.</a:t>
            </a:r>
            <a:r>
              <a:rPr sz="2200" b="1" spc="-55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Use</a:t>
            </a:r>
            <a:r>
              <a:rPr sz="2200" b="1" spc="-45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the</a:t>
            </a:r>
            <a:r>
              <a:rPr sz="2200" b="1" spc="-65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boards</a:t>
            </a:r>
            <a:r>
              <a:rPr sz="2200" b="1" spc="-65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carefully</a:t>
            </a:r>
            <a:r>
              <a:rPr sz="2200" b="1" spc="-50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and</a:t>
            </a:r>
            <a:r>
              <a:rPr sz="2200" b="1" spc="-55">
                <a:latin typeface="Arial"/>
                <a:cs typeface="Arial"/>
              </a:rPr>
              <a:t> </a:t>
            </a:r>
            <a:r>
              <a:rPr sz="2200" b="1">
                <a:latin typeface="Arial"/>
                <a:cs typeface="Arial"/>
              </a:rPr>
              <a:t>return</a:t>
            </a:r>
            <a:r>
              <a:rPr sz="2200" b="1" spc="-40">
                <a:latin typeface="Arial"/>
                <a:cs typeface="Arial"/>
              </a:rPr>
              <a:t> </a:t>
            </a:r>
            <a:r>
              <a:rPr sz="2200" b="1" spc="-10">
                <a:latin typeface="Arial"/>
                <a:cs typeface="Arial"/>
              </a:rPr>
              <a:t>them!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685800"/>
            <a:ext cx="4113281" cy="21701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13</a:t>
            </a:fld>
            <a:endParaRPr spc="-2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25" dirty="0"/>
              <a:t>14</a:t>
            </a:fld>
            <a:endParaRPr spc="-25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Download</a:t>
            </a:r>
            <a:r>
              <a:rPr spc="-160"/>
              <a:t> </a:t>
            </a:r>
            <a:r>
              <a:t>links</a:t>
            </a:r>
            <a:r>
              <a:rPr spc="-135"/>
              <a:t> </a:t>
            </a:r>
            <a:r>
              <a:t>for</a:t>
            </a:r>
            <a:r>
              <a:rPr spc="-140"/>
              <a:t> </a:t>
            </a:r>
            <a:r>
              <a:rPr spc="-1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562" y="2704532"/>
            <a:ext cx="7907020" cy="3029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1170" indent="-458470">
              <a:lnSpc>
                <a:spcPct val="100000"/>
              </a:lnSpc>
              <a:spcBef>
                <a:spcPts val="95"/>
              </a:spcBef>
              <a:buSzPct val="120000"/>
              <a:buChar char="●"/>
              <a:tabLst>
                <a:tab pos="471170" algn="l"/>
              </a:tabLst>
            </a:pPr>
            <a:r>
              <a:rPr sz="2500">
                <a:latin typeface="Arial"/>
                <a:cs typeface="Arial"/>
              </a:rPr>
              <a:t>ARM </a:t>
            </a:r>
            <a:r>
              <a:rPr sz="2500" spc="-25">
                <a:latin typeface="Arial"/>
                <a:cs typeface="Arial"/>
              </a:rPr>
              <a:t>Keil-</a:t>
            </a:r>
            <a:r>
              <a:rPr sz="2500">
                <a:latin typeface="Arial"/>
                <a:cs typeface="Arial"/>
              </a:rPr>
              <a:t>C51</a:t>
            </a:r>
            <a:r>
              <a:rPr sz="2500" spc="20">
                <a:latin typeface="Arial"/>
                <a:cs typeface="Arial"/>
              </a:rPr>
              <a:t> </a:t>
            </a:r>
            <a:r>
              <a:rPr sz="2500" spc="-10">
                <a:latin typeface="Arial"/>
                <a:cs typeface="Arial"/>
              </a:rPr>
              <a:t>download</a:t>
            </a:r>
            <a:endParaRPr sz="2500">
              <a:latin typeface="Arial"/>
              <a:cs typeface="Arial"/>
            </a:endParaRPr>
          </a:p>
          <a:p>
            <a:pPr marL="471170">
              <a:lnSpc>
                <a:spcPct val="100000"/>
              </a:lnSpc>
              <a:spcBef>
                <a:spcPts val="100"/>
              </a:spcBef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https://www.keil.com/demo/eval/c51.htm#/DOWNLOAD</a:t>
            </a:r>
            <a:endParaRPr sz="2400">
              <a:latin typeface="Arial"/>
              <a:cs typeface="Arial"/>
            </a:endParaRPr>
          </a:p>
          <a:p>
            <a:pPr marL="471170">
              <a:lnSpc>
                <a:spcPct val="100000"/>
              </a:lnSpc>
              <a:spcBef>
                <a:spcPts val="600"/>
              </a:spcBef>
            </a:pPr>
            <a:r>
              <a:rPr sz="2400" spc="-10">
                <a:latin typeface="Arial"/>
                <a:cs typeface="Arial"/>
              </a:rPr>
              <a:t>(requires</a:t>
            </a:r>
            <a:r>
              <a:rPr sz="2400" spc="-105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registration)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400">
              <a:latin typeface="Arial"/>
              <a:cs typeface="Arial"/>
            </a:endParaRPr>
          </a:p>
          <a:p>
            <a:pPr marL="471170" indent="-458470">
              <a:lnSpc>
                <a:spcPct val="100000"/>
              </a:lnSpc>
              <a:buSzPct val="120000"/>
              <a:buChar char="●"/>
              <a:tabLst>
                <a:tab pos="471170" algn="l"/>
              </a:tabLst>
            </a:pPr>
            <a:r>
              <a:rPr sz="2500">
                <a:latin typeface="Arial"/>
                <a:cs typeface="Arial"/>
              </a:rPr>
              <a:t>FLIP</a:t>
            </a:r>
            <a:r>
              <a:rPr sz="2500" spc="-85">
                <a:latin typeface="Arial"/>
                <a:cs typeface="Arial"/>
              </a:rPr>
              <a:t> </a:t>
            </a:r>
            <a:r>
              <a:rPr sz="2500" spc="-10">
                <a:latin typeface="Arial"/>
                <a:cs typeface="Arial"/>
              </a:rPr>
              <a:t>download</a:t>
            </a:r>
            <a:endParaRPr sz="2500">
              <a:latin typeface="Arial"/>
              <a:cs typeface="Arial"/>
            </a:endParaRPr>
          </a:p>
          <a:p>
            <a:pPr marL="471170" marR="38100">
              <a:lnSpc>
                <a:spcPct val="100400"/>
              </a:lnSpc>
              <a:spcBef>
                <a:spcPts val="645"/>
              </a:spcBef>
            </a:pPr>
            <a:r>
              <a:rPr sz="2400" u="sng" spc="-20">
                <a:solidFill>
                  <a:srgbClr val="0000FF"/>
                </a:solidFill>
                <a:uFill>
                  <a:solidFill>
                    <a:srgbClr val="0000CC"/>
                  </a:solidFill>
                </a:uFill>
                <a:latin typeface="Arial"/>
                <a:cs typeface="Arial"/>
                <a:hlinkClick r:id="rId3"/>
              </a:rPr>
              <a:t>https://www.microchip.com/developmenttools/ProductD</a:t>
            </a:r>
            <a:r>
              <a:rPr sz="2400" u="none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CC"/>
                  </a:solidFill>
                </a:uFill>
                <a:latin typeface="Arial"/>
                <a:cs typeface="Arial"/>
              </a:rPr>
              <a:t>etails/FLIP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C35076-E239-4B92-89B9-33D5F8C3E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231563"/>
              </p:ext>
            </p:extLst>
          </p:nvPr>
        </p:nvGraphicFramePr>
        <p:xfrm>
          <a:off x="228600" y="0"/>
          <a:ext cx="9525002" cy="7618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51645012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1654910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448996837"/>
                    </a:ext>
                  </a:extLst>
                </a:gridCol>
                <a:gridCol w="1254340">
                  <a:extLst>
                    <a:ext uri="{9D8B030D-6E8A-4147-A177-3AD203B41FA5}">
                      <a16:colId xmlns:a16="http://schemas.microsoft.com/office/drawing/2014/main" val="3642718298"/>
                    </a:ext>
                  </a:extLst>
                </a:gridCol>
                <a:gridCol w="2936662">
                  <a:extLst>
                    <a:ext uri="{9D8B030D-6E8A-4147-A177-3AD203B41FA5}">
                      <a16:colId xmlns:a16="http://schemas.microsoft.com/office/drawing/2014/main" val="1495636591"/>
                    </a:ext>
                  </a:extLst>
                </a:gridCol>
              </a:tblGrid>
              <a:tr h="446811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650" b="1" u="none" strike="noStrike" dirty="0">
                          <a:effectLst/>
                        </a:rPr>
                        <a:t>EE-337: Microprocessor Lab Schedule (Spring 2026)</a:t>
                      </a:r>
                      <a:endParaRPr lang="en-US" sz="1650" b="1" i="0" u="none" strike="noStrike" dirty="0">
                        <a:solidFill>
                          <a:srgbClr val="1C4587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30929575"/>
                  </a:ext>
                </a:extLst>
              </a:tr>
              <a:tr h="51975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Date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Lab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Resources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Experiment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2025-2026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893966"/>
                  </a:ext>
                </a:extLst>
              </a:tr>
              <a:tr h="282676"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Pre-requisites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2 Jan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pPr algn="l" fontAlgn="ctr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IN" sz="1650" u="sng" strike="noStrike" dirty="0">
                          <a:effectLst/>
                          <a:hlinkClick r:id="rId2"/>
                        </a:rPr>
                        <a:t>Development Tools</a:t>
                      </a:r>
                      <a:endParaRPr lang="en-IN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22941738"/>
                  </a:ext>
                </a:extLst>
              </a:tr>
              <a:tr h="282676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50" u="sng" strike="noStrike" dirty="0">
                          <a:effectLst/>
                          <a:hlinkClick r:id="rId3"/>
                        </a:rPr>
                        <a:t>Getting_Started_with_Keil_uVision_2024.pdf</a:t>
                      </a:r>
                      <a:endParaRPr lang="en-US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8845049"/>
                  </a:ext>
                </a:extLst>
              </a:tr>
              <a:tr h="273557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50" u="none" strike="noStrike" dirty="0">
                          <a:effectLst/>
                          <a:hlinkClick r:id="rId4"/>
                        </a:rPr>
                        <a:t> Keil Video Walkthrough : </a:t>
                      </a:r>
                      <a:r>
                        <a:rPr lang="en-US" sz="1650" u="sng" strike="noStrike" dirty="0">
                          <a:effectLst/>
                          <a:hlinkClick r:id="rId4"/>
                        </a:rPr>
                        <a:t>https://www.youtube.com/watch?v=IQZ8nyKL4xI</a:t>
                      </a:r>
                      <a:endParaRPr lang="en-US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81579439"/>
                  </a:ext>
                </a:extLst>
              </a:tr>
              <a:tr h="273557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IN" sz="1650" u="sng" strike="noStrike" dirty="0">
                          <a:effectLst/>
                          <a:hlinkClick r:id="rId5"/>
                        </a:rPr>
                        <a:t>Introduction_to_microcontrollers.pdf</a:t>
                      </a:r>
                      <a:endParaRPr lang="en-IN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83179919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IN" sz="1650" u="sng" strike="noStrike" dirty="0">
                          <a:effectLst/>
                          <a:hlinkClick r:id="rId6"/>
                        </a:rPr>
                        <a:t>8051_Instruction_set.pdf</a:t>
                      </a:r>
                      <a:endParaRPr lang="en-IN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2577062"/>
                  </a:ext>
                </a:extLst>
              </a:tr>
              <a:tr h="42229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6 Jan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Lab-0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none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50" b="1" u="none" strike="noStrike" dirty="0">
                          <a:effectLst/>
                        </a:rPr>
                        <a:t>Introduction Lab</a:t>
                      </a:r>
                      <a:endParaRPr lang="en-IN" sz="1650" b="1" i="0" u="none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50" u="none" strike="noStrike" dirty="0">
                          <a:effectLst/>
                        </a:rPr>
                        <a:t>Course Introduction and Keil Introduction</a:t>
                      </a:r>
                      <a:endParaRPr lang="en-US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353837"/>
                  </a:ext>
                </a:extLst>
              </a:tr>
              <a:tr h="42229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12 Jan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13 Jan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Lab-1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sng" strike="noStrike" dirty="0">
                        <a:solidFill>
                          <a:srgbClr val="0563C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50" b="1" u="none" strike="noStrike" dirty="0">
                          <a:effectLst/>
                        </a:rPr>
                        <a:t>Assembly - 1</a:t>
                      </a:r>
                      <a:endParaRPr lang="en-IN" sz="1650" b="1" i="0" u="sng" strike="noStrike" dirty="0">
                        <a:solidFill>
                          <a:srgbClr val="0563C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50" u="none" strike="noStrike" dirty="0">
                          <a:effectLst/>
                        </a:rPr>
                        <a:t>Keil IDE Familiarity: Logic Analyzer, Debugging</a:t>
                      </a:r>
                      <a:endParaRPr lang="en-US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264891"/>
                  </a:ext>
                </a:extLst>
              </a:tr>
              <a:tr h="77043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19 Jan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20 Jan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Lab-2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650" b="1" u="none" strike="noStrike" dirty="0">
                          <a:effectLst/>
                        </a:rPr>
                        <a:t>Assembly - 2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824052"/>
                  </a:ext>
                </a:extLst>
              </a:tr>
              <a:tr h="64569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26 Jan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27 Jan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Lab-3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650" b="1" u="none" strike="noStrike" dirty="0">
                          <a:effectLst/>
                        </a:rPr>
                        <a:t>Assembly - 3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124524"/>
                  </a:ext>
                </a:extLst>
              </a:tr>
              <a:tr h="42229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02 Feb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03 Feb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Lab-4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50" u="sng" strike="noStrike" dirty="0">
                          <a:effectLst/>
                          <a:hlinkClick r:id="rId7"/>
                        </a:rPr>
                        <a:t>Embedded C programming for 8051 using Keil.pdf</a:t>
                      </a:r>
                      <a:endParaRPr lang="en-IN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2">
                  <a:txBody>
                    <a:bodyPr/>
                    <a:lstStyle/>
                    <a:p>
                      <a:pPr algn="ctr" fontAlgn="b"/>
                      <a:r>
                        <a:rPr lang="en-IN" sz="1650" b="1" u="none" strike="noStrike" dirty="0">
                          <a:effectLst/>
                        </a:rPr>
                        <a:t>Assembly – 4 and Board Introduction</a:t>
                      </a:r>
                      <a:endParaRPr lang="en-IN" sz="1650" b="1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algn="ctr" fontAlgn="ctr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396311"/>
                  </a:ext>
                </a:extLst>
              </a:tr>
              <a:tr h="2188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50" u="sng" strike="noStrike" dirty="0">
                          <a:effectLst/>
                          <a:hlinkClick r:id="rId8"/>
                        </a:rPr>
                        <a:t>programming stylesheet.pdf</a:t>
                      </a:r>
                      <a:endParaRPr lang="en-IN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fontAlgn="b"/>
                      <a:endParaRPr lang="en-IN" sz="1500" b="0" i="0" u="sng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569416"/>
                  </a:ext>
                </a:extLst>
              </a:tr>
              <a:tr h="2188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50" u="sng" strike="noStrike" dirty="0">
                          <a:effectLst/>
                          <a:hlinkClick r:id="rId9"/>
                        </a:rPr>
                        <a:t>lcd-control-made-easy.pdf</a:t>
                      </a:r>
                      <a:endParaRPr lang="en-IN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fontAlgn="b"/>
                      <a:endParaRPr lang="en-IN" sz="1500" b="0" i="0" u="sng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558810"/>
                  </a:ext>
                </a:extLst>
              </a:tr>
              <a:tr h="42229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50" u="sng" strike="noStrike" dirty="0">
                          <a:effectLst/>
                          <a:hlinkClick r:id="rId10"/>
                        </a:rPr>
                        <a:t>lcd_interfacing_with_pt51.pdf</a:t>
                      </a:r>
                      <a:endParaRPr lang="en-US" sz="1650" b="0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fontAlgn="b"/>
                      <a:endParaRPr lang="en-US" sz="1500" b="0" i="0" u="sng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181825"/>
                  </a:ext>
                </a:extLst>
              </a:tr>
              <a:tr h="6310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9 Feb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10 Feb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Lab-5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650" b="1" u="none" strike="noStrike" dirty="0">
                          <a:effectLst/>
                        </a:rPr>
                        <a:t>Embedded C - 1 </a:t>
                      </a:r>
                      <a:br>
                        <a:rPr lang="en-IN" sz="1650" b="1" u="none" strike="noStrike" dirty="0">
                          <a:effectLst/>
                        </a:rPr>
                      </a:b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371389"/>
                  </a:ext>
                </a:extLst>
              </a:tr>
              <a:tr h="6310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11 Feb (Wed)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LAB MIDSEM Exam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00" marR="5200" marT="52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Assembly programming based 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0" marR="5200" marT="52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8223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0C9AFC-AE6D-4265-B929-CC8D57B1F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142275"/>
              </p:ext>
            </p:extLst>
          </p:nvPr>
        </p:nvGraphicFramePr>
        <p:xfrm>
          <a:off x="152400" y="171147"/>
          <a:ext cx="9753599" cy="73497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318270176"/>
                    </a:ext>
                  </a:extLst>
                </a:gridCol>
                <a:gridCol w="982238">
                  <a:extLst>
                    <a:ext uri="{9D8B030D-6E8A-4147-A177-3AD203B41FA5}">
                      <a16:colId xmlns:a16="http://schemas.microsoft.com/office/drawing/2014/main" val="3723101871"/>
                    </a:ext>
                  </a:extLst>
                </a:gridCol>
                <a:gridCol w="3208762">
                  <a:extLst>
                    <a:ext uri="{9D8B030D-6E8A-4147-A177-3AD203B41FA5}">
                      <a16:colId xmlns:a16="http://schemas.microsoft.com/office/drawing/2014/main" val="294901261"/>
                    </a:ext>
                  </a:extLst>
                </a:gridCol>
                <a:gridCol w="4343399">
                  <a:extLst>
                    <a:ext uri="{9D8B030D-6E8A-4147-A177-3AD203B41FA5}">
                      <a16:colId xmlns:a16="http://schemas.microsoft.com/office/drawing/2014/main" val="4272374032"/>
                    </a:ext>
                  </a:extLst>
                </a:gridCol>
              </a:tblGrid>
              <a:tr h="52623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16 Feb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17 Feb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Lab-6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50" u="none" strike="noStrike" dirty="0">
                          <a:effectLst/>
                        </a:rPr>
                        <a:t>Embedded C - 2 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 </a:t>
                      </a:r>
                      <a:r>
                        <a:rPr lang="it-IT" sz="1650" b="1" u="none" strike="noStrike" dirty="0">
                          <a:effectLst/>
                        </a:rPr>
                        <a:t>Timer and Interrupt </a:t>
                      </a:r>
                      <a:r>
                        <a:rPr lang="it-IT" sz="1650" b="1" u="none" strike="noStrike" err="1">
                          <a:effectLst/>
                        </a:rPr>
                        <a:t>based</a:t>
                      </a:r>
                      <a:endParaRPr lang="en-IN" b="1" err="1"/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660428"/>
                  </a:ext>
                </a:extLst>
              </a:tr>
              <a:tr h="30804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21 Feb - 1 Mar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Theory </a:t>
                      </a:r>
                      <a:r>
                        <a:rPr lang="en-IN" sz="1650" b="1" u="none" strike="noStrike" dirty="0" err="1">
                          <a:effectLst/>
                        </a:rPr>
                        <a:t>Midsem</a:t>
                      </a:r>
                      <a:r>
                        <a:rPr lang="en-IN" sz="1650" b="1" u="none" strike="noStrike" dirty="0">
                          <a:effectLst/>
                        </a:rPr>
                        <a:t> Week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IN" sz="16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5369759"/>
                  </a:ext>
                </a:extLst>
              </a:tr>
              <a:tr h="78294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02 Mar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03 Mar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Lab-7a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50" u="none" strike="noStrike" dirty="0">
                          <a:effectLst/>
                        </a:rPr>
                        <a:t>Embedded C - 3 </a:t>
                      </a:r>
                      <a:br>
                        <a:rPr lang="da-DK" sz="1650" u="none" strike="noStrike" dirty="0">
                          <a:effectLst/>
                        </a:rPr>
                      </a:br>
                      <a:r>
                        <a:rPr lang="da-DK" sz="1650" b="1" u="none" strike="noStrike" dirty="0">
                          <a:effectLst/>
                        </a:rPr>
                        <a:t>(Timer + </a:t>
                      </a:r>
                      <a:r>
                        <a:rPr lang="da-DK" sz="1650" b="1" u="none" strike="noStrike" dirty="0" err="1">
                          <a:effectLst/>
                        </a:rPr>
                        <a:t>Keypad</a:t>
                      </a:r>
                      <a:r>
                        <a:rPr lang="da-DK" sz="1650" b="1" u="none" strike="noStrike" dirty="0">
                          <a:effectLst/>
                        </a:rPr>
                        <a:t> + LCD + Speaker)</a:t>
                      </a:r>
                      <a:endParaRPr lang="en-IN" b="1" dirty="0"/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947419"/>
                  </a:ext>
                </a:extLst>
              </a:tr>
              <a:tr h="78294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9 Mar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10 Mar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Lab-7b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50" u="none" strike="noStrike" dirty="0">
                          <a:effectLst/>
                        </a:rPr>
                        <a:t>Embedded C - 3 </a:t>
                      </a:r>
                      <a:br>
                        <a:rPr lang="da-DK" sz="1650" u="none" strike="noStrike" dirty="0">
                          <a:effectLst/>
                        </a:rPr>
                      </a:br>
                      <a:r>
                        <a:rPr lang="da-DK" sz="1650" b="1" u="none" strike="noStrike" dirty="0">
                          <a:effectLst/>
                        </a:rPr>
                        <a:t>(Timer + </a:t>
                      </a:r>
                      <a:r>
                        <a:rPr lang="da-DK" sz="1650" b="1" u="none" strike="noStrike" err="1">
                          <a:effectLst/>
                        </a:rPr>
                        <a:t>Keypad</a:t>
                      </a:r>
                      <a:r>
                        <a:rPr lang="da-DK" sz="1650" b="1" u="none" strike="noStrike" dirty="0">
                          <a:effectLst/>
                        </a:rPr>
                        <a:t> + LCD + Speaker)</a:t>
                      </a:r>
                      <a:endParaRPr lang="en-IN" b="1" dirty="0"/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716751"/>
                  </a:ext>
                </a:extLst>
              </a:tr>
              <a:tr h="52623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16 Mar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17 Mar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Lab-8a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50" u="sng" strike="noStrike" dirty="0">
                          <a:effectLst/>
                          <a:hlinkClick r:id="rId2"/>
                        </a:rPr>
                        <a:t>https://ee337.github.io/dks/serial_io.html</a:t>
                      </a:r>
                      <a:endParaRPr lang="en-IN" sz="165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Embedded C - 4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UART- Part 1</a:t>
                      </a:r>
                      <a:endParaRPr lang="en-IN" b="1" dirty="0"/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824538"/>
                  </a:ext>
                </a:extLst>
              </a:tr>
              <a:tr h="52623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23 Mar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24 Mar 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Lab-8b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50" u="sng" strike="noStrike" dirty="0">
                          <a:effectLst/>
                          <a:hlinkClick r:id="rId2"/>
                        </a:rPr>
                        <a:t>https://ee337.github.io/dks/serial_io.html</a:t>
                      </a:r>
                      <a:endParaRPr lang="en-IN" sz="165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Embedded C - 4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UART- Part 2</a:t>
                      </a:r>
                      <a:endParaRPr lang="en-IN" b="1" dirty="0"/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868293"/>
                  </a:ext>
                </a:extLst>
              </a:tr>
              <a:tr h="1072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50" u="none" strike="noStrike" dirty="0">
                          <a:effectLst/>
                        </a:rPr>
                        <a:t>30 Mar - Mon Batch</a:t>
                      </a:r>
                    </a:p>
                    <a:p>
                      <a:pPr algn="ctr" fontAlgn="ctr"/>
                      <a:r>
                        <a:rPr lang="en-US" sz="1650" b="1" u="none" strike="noStrike" dirty="0">
                          <a:effectLst/>
                        </a:rPr>
                        <a:t>31 Mar - Holiday</a:t>
                      </a:r>
                      <a:endParaRPr lang="en-US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Lab-9a (project)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sz="1650" u="none" strike="noStrike" dirty="0">
                          <a:effectLst/>
                        </a:rPr>
                      </a:br>
                      <a:r>
                        <a:rPr lang="en-US" sz="1650" u="none" strike="noStrike" dirty="0">
                          <a:effectLst/>
                        </a:rPr>
                        <a:t>Embedded C - 5 </a:t>
                      </a:r>
                      <a:br>
                        <a:rPr lang="en-US" sz="1650" u="none" strike="noStrike" dirty="0">
                          <a:effectLst/>
                        </a:rPr>
                      </a:br>
                      <a:r>
                        <a:rPr lang="en-US" sz="1650" u="none" strike="noStrike" dirty="0">
                          <a:effectLst/>
                        </a:rPr>
                        <a:t>(due to holiday on 31</a:t>
                      </a:r>
                      <a:r>
                        <a:rPr lang="en-US" sz="1650" u="none" strike="noStrike" baseline="30000" dirty="0">
                          <a:effectLst/>
                        </a:rPr>
                        <a:t>st</a:t>
                      </a:r>
                      <a:r>
                        <a:rPr lang="en-US" sz="1650" u="none" strike="noStrike" dirty="0">
                          <a:effectLst/>
                        </a:rPr>
                        <a:t> March, demo-1 of Tuesday batch would be done on Wednesday, 1</a:t>
                      </a:r>
                      <a:r>
                        <a:rPr lang="en-US" sz="1650" u="none" strike="noStrike" baseline="30000" dirty="0">
                          <a:effectLst/>
                        </a:rPr>
                        <a:t>st</a:t>
                      </a:r>
                      <a:r>
                        <a:rPr lang="en-US" sz="1650" u="none" strike="noStrike" dirty="0">
                          <a:effectLst/>
                        </a:rPr>
                        <a:t> Apr 2026)</a:t>
                      </a:r>
                    </a:p>
                    <a:p>
                      <a:pPr algn="ctr"/>
                      <a:endParaRPr lang="en-US" sz="1650" u="none" strike="noStrike">
                        <a:effectLst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Project Week-1</a:t>
                      </a:r>
                      <a:endParaRPr lang="en-IN" dirty="0">
                        <a:latin typeface="Times New Roman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258"/>
                  </a:ext>
                </a:extLst>
              </a:tr>
              <a:tr h="59041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6 Apr</a:t>
                      </a:r>
                      <a:br>
                        <a:rPr lang="en-IN" sz="1650" u="none" strike="noStrike" dirty="0">
                          <a:effectLst/>
                        </a:rPr>
                      </a:br>
                      <a:r>
                        <a:rPr lang="en-IN" sz="1650" u="none" strike="noStrike" dirty="0">
                          <a:effectLst/>
                        </a:rPr>
                        <a:t>7 Apr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 9b (project)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Embedded C - 5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Project Week-2 [demo-2]</a:t>
                      </a: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167486"/>
                  </a:ext>
                </a:extLst>
              </a:tr>
              <a:tr h="52623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11 Apr (Sat)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ENDSEM Exam  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IN" sz="16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Embedded C programming based 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023705"/>
                  </a:ext>
                </a:extLst>
              </a:tr>
              <a:tr h="29520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15-Apr [Wednesday]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u="none" strike="noStrike" dirty="0">
                          <a:effectLst/>
                        </a:rPr>
                        <a:t>Lab 9c (project)</a:t>
                      </a:r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6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Embedded C - 5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Project Week-3 [Final Demo]</a:t>
                      </a: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575304"/>
                  </a:ext>
                </a:extLst>
              </a:tr>
              <a:tr h="30804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20 Apr - 01 May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650" b="1" u="none" strike="noStrike" dirty="0">
                          <a:effectLst/>
                        </a:rPr>
                        <a:t>Theory </a:t>
                      </a:r>
                      <a:r>
                        <a:rPr lang="en-IN" sz="1650" b="1" u="none" strike="noStrike" dirty="0" err="1">
                          <a:effectLst/>
                        </a:rPr>
                        <a:t>Endsem</a:t>
                      </a:r>
                      <a:r>
                        <a:rPr lang="en-IN" sz="1650" b="1" u="none" strike="noStrike" dirty="0">
                          <a:effectLst/>
                        </a:rPr>
                        <a:t> Week </a:t>
                      </a:r>
                      <a:endParaRPr lang="en-IN" sz="16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IN" sz="16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IN" sz="16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25" marR="6325" marT="63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1674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sz="4800"/>
              <a:t>Thank</a:t>
            </a:r>
            <a:r>
              <a:rPr sz="4800" spc="-210"/>
              <a:t> </a:t>
            </a:r>
            <a:r>
              <a:rPr sz="4800" spc="-25"/>
              <a:t>you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440716" y="3910122"/>
            <a:ext cx="31851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>
                <a:latin typeface="Arial"/>
                <a:cs typeface="Arial"/>
              </a:rPr>
              <a:t>Good</a:t>
            </a:r>
            <a:r>
              <a:rPr sz="4800" b="1" spc="-270">
                <a:latin typeface="Arial"/>
                <a:cs typeface="Arial"/>
              </a:rPr>
              <a:t> </a:t>
            </a:r>
            <a:r>
              <a:rPr sz="4800" b="1" spc="-20">
                <a:latin typeface="Arial"/>
                <a:cs typeface="Arial"/>
              </a:rPr>
              <a:t>luck!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1241</Words>
  <Application>Microsoft Office PowerPoint</Application>
  <PresentationFormat>Custom</PresentationFormat>
  <Paragraphs>194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EE337 - Microprocessors Lab Course Outline</vt:lpstr>
      <vt:lpstr>Grading Policy (Tentative)</vt:lpstr>
      <vt:lpstr>Timings and Venue:</vt:lpstr>
      <vt:lpstr>Course Objective</vt:lpstr>
      <vt:lpstr>Skills Gained</vt:lpstr>
      <vt:lpstr>Prerequisites</vt:lpstr>
      <vt:lpstr>Mandatory Attendance</vt:lpstr>
      <vt:lpstr>Lab Logistics</vt:lpstr>
      <vt:lpstr>Evaluation Process for each lab</vt:lpstr>
      <vt:lpstr>What counts as malpractice?</vt:lpstr>
      <vt:lpstr>Website and Moodle</vt:lpstr>
      <vt:lpstr>Reference Texts</vt:lpstr>
      <vt:lpstr>Lab kit and software</vt:lpstr>
      <vt:lpstr>Download links for software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EE337_Course_Introduction_2025</dc:title>
  <dc:creator>wellab4</dc:creator>
  <cp:lastModifiedBy>Jaydev Bapat</cp:lastModifiedBy>
  <cp:revision>37</cp:revision>
  <dcterms:created xsi:type="dcterms:W3CDTF">2026-01-05T07:08:23Z</dcterms:created>
  <dcterms:modified xsi:type="dcterms:W3CDTF">2026-01-06T13:35:02Z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2025-01-07T00:00:00Z</vt:filetime>
  </property>
  <property fmtid="{D5CDD505-2E9C-101B-9397-08002B2CF9AE}" pid="3" name="LastSaved">
    <vt:filetime>2026-01-05T00:00:00Z</vt:filetime>
  </property>
  <property fmtid="{D5CDD505-2E9C-101B-9397-08002B2CF9AE}" pid="4" name="Producer">
    <vt:lpwstr>Microsoft: Print To PDF</vt:lpwstr>
  </property>
</Properties>
</file>